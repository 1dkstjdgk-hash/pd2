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54"/>
  </p:handoutMasterIdLst>
  <p:sldIdLst>
    <p:sldId id="396" r:id="rId2"/>
    <p:sldId id="470" r:id="rId3"/>
    <p:sldId id="398" r:id="rId4"/>
    <p:sldId id="389" r:id="rId5"/>
    <p:sldId id="435" r:id="rId6"/>
    <p:sldId id="395" r:id="rId7"/>
    <p:sldId id="431" r:id="rId8"/>
    <p:sldId id="430" r:id="rId9"/>
    <p:sldId id="397" r:id="rId10"/>
    <p:sldId id="371" r:id="rId11"/>
    <p:sldId id="372" r:id="rId12"/>
    <p:sldId id="437" r:id="rId13"/>
    <p:sldId id="438" r:id="rId14"/>
    <p:sldId id="433" r:id="rId15"/>
    <p:sldId id="432" r:id="rId16"/>
    <p:sldId id="439" r:id="rId17"/>
    <p:sldId id="434" r:id="rId18"/>
    <p:sldId id="440" r:id="rId19"/>
    <p:sldId id="441" r:id="rId20"/>
    <p:sldId id="442" r:id="rId21"/>
    <p:sldId id="443" r:id="rId22"/>
    <p:sldId id="444" r:id="rId23"/>
    <p:sldId id="447" r:id="rId24"/>
    <p:sldId id="446" r:id="rId25"/>
    <p:sldId id="448" r:id="rId26"/>
    <p:sldId id="449" r:id="rId27"/>
    <p:sldId id="453" r:id="rId28"/>
    <p:sldId id="454" r:id="rId29"/>
    <p:sldId id="450" r:id="rId30"/>
    <p:sldId id="451" r:id="rId31"/>
    <p:sldId id="363" r:id="rId32"/>
    <p:sldId id="376" r:id="rId33"/>
    <p:sldId id="406" r:id="rId34"/>
    <p:sldId id="455" r:id="rId35"/>
    <p:sldId id="456" r:id="rId36"/>
    <p:sldId id="457" r:id="rId37"/>
    <p:sldId id="400" r:id="rId38"/>
    <p:sldId id="407" r:id="rId39"/>
    <p:sldId id="402" r:id="rId40"/>
    <p:sldId id="403" r:id="rId41"/>
    <p:sldId id="401" r:id="rId42"/>
    <p:sldId id="429" r:id="rId43"/>
    <p:sldId id="458" r:id="rId44"/>
    <p:sldId id="459" r:id="rId45"/>
    <p:sldId id="460" r:id="rId46"/>
    <p:sldId id="461" r:id="rId47"/>
    <p:sldId id="462" r:id="rId48"/>
    <p:sldId id="463" r:id="rId49"/>
    <p:sldId id="464" r:id="rId50"/>
    <p:sldId id="466" r:id="rId51"/>
    <p:sldId id="467" r:id="rId52"/>
    <p:sldId id="468" r:id="rId53"/>
  </p:sldIdLst>
  <p:sldSz cx="9144000" cy="6858000" type="screen4x3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815B"/>
    <a:srgbClr val="000000"/>
    <a:srgbClr val="CC0000"/>
    <a:srgbClr val="46ACAE"/>
    <a:srgbClr val="7EA5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95" autoAdjust="0"/>
    <p:restoredTop sz="94660" autoAdjust="0"/>
  </p:normalViewPr>
  <p:slideViewPr>
    <p:cSldViewPr>
      <p:cViewPr varScale="1">
        <p:scale>
          <a:sx n="70" d="100"/>
          <a:sy n="70" d="100"/>
        </p:scale>
        <p:origin x="118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98B3E23-2996-4877-871C-76A3719137F4}" type="datetimeFigureOut">
              <a:rPr lang="ko-KR" altLang="en-US"/>
              <a:pPr>
                <a:defRPr/>
              </a:pPr>
              <a:t>2020-12-21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2E4F2A6-DC58-4B5B-9A1C-66B2CBFDDAE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25510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 bwMode="gray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0" descr="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0250" y="5837238"/>
            <a:ext cx="685800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819400" y="3365500"/>
            <a:ext cx="6019800" cy="596900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819400" y="2743200"/>
            <a:ext cx="5715000" cy="5334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1800" b="0">
                <a:solidFill>
                  <a:schemeClr val="tx1"/>
                </a:solidFill>
              </a:defRPr>
            </a:lvl1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477000"/>
            <a:ext cx="2133600" cy="244475"/>
          </a:xfrm>
        </p:spPr>
        <p:txBody>
          <a:bodyPr/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77000"/>
            <a:ext cx="2895600" cy="244475"/>
          </a:xfrm>
        </p:spPr>
        <p:txBody>
          <a:bodyPr/>
          <a:lstStyle>
            <a:lvl1pPr algn="ct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477000"/>
            <a:ext cx="2133600" cy="244475"/>
          </a:xfrm>
        </p:spPr>
        <p:txBody>
          <a:bodyPr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05E9B7B-7B85-47D1-85CA-6C4548ED04DB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91528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BEA062-BBF5-476F-8A60-BD8D9E46459F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14318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63F7C5-8696-4FD1-8C44-E7A13926887D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93329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386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0058C7-5A48-42E9-9628-82E325AB86AD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0524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AD7AEC-54D7-42A1-953A-948E7D51B961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50881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95AFD4-5B13-4415-85DD-41504194F35E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21423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8BE755-37E2-4EC0-85F3-D24B42F96AFB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07639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1121C8-C5DD-4A23-AD45-0A0E5998CF12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62241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 noProof="0" smtClean="0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3E9F96-3AAC-479E-9C12-B4F99658F02E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30869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A8473D-3C19-4F9B-AFCD-999521423F11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00207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533400"/>
            <a:ext cx="2057400" cy="57150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533400"/>
            <a:ext cx="6019800" cy="57150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C7194B-7544-4462-AE06-B0BACD6C7D7E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335045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7696200" cy="563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457200" y="1447800"/>
            <a:ext cx="8229600" cy="4800600"/>
          </a:xfrm>
        </p:spPr>
        <p:txBody>
          <a:bodyPr/>
          <a:lstStyle/>
          <a:p>
            <a:pPr lvl="0"/>
            <a:r>
              <a:rPr lang="ko-KR" altLang="en-US" noProof="0" smtClean="0"/>
              <a:t>표를 추가하려면 아이콘을 클릭하십시오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1395B2-D6DD-4319-B861-A3E2DC7E560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69258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gray">
          <a:xfrm>
            <a:off x="457200" y="1447800"/>
            <a:ext cx="82296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457200" y="6556375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solidFill>
                  <a:schemeClr val="bg1"/>
                </a:solidFill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7162800" y="152400"/>
            <a:ext cx="1752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chemeClr val="bg1"/>
                </a:solidFill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3429000" y="6556375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chemeClr val="bg1"/>
                </a:solidFill>
                <a:latin typeface="Verdana" panose="020B060403050404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8DA4C806-C1A0-41E4-86CC-BAD54CD9C4E5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7200" y="533400"/>
            <a:ext cx="76962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36" r:id="rId1"/>
    <p:sldLayoutId id="2147484325" r:id="rId2"/>
    <p:sldLayoutId id="2147484326" r:id="rId3"/>
    <p:sldLayoutId id="2147484327" r:id="rId4"/>
    <p:sldLayoutId id="2147484328" r:id="rId5"/>
    <p:sldLayoutId id="2147484329" r:id="rId6"/>
    <p:sldLayoutId id="2147484330" r:id="rId7"/>
    <p:sldLayoutId id="2147484331" r:id="rId8"/>
    <p:sldLayoutId id="2147484332" r:id="rId9"/>
    <p:sldLayoutId id="2147484333" r:id="rId10"/>
    <p:sldLayoutId id="2147484334" r:id="rId11"/>
    <p:sldLayoutId id="2147484335" r:id="rId12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hlink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charset="0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charset="0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charset="0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771775" y="3141663"/>
            <a:ext cx="6019800" cy="596900"/>
          </a:xfrm>
        </p:spPr>
        <p:txBody>
          <a:bodyPr/>
          <a:lstStyle/>
          <a:p>
            <a:pPr eaLnBrk="1" hangingPunct="1"/>
            <a:r>
              <a:rPr lang="ko-KR" altLang="en-US" sz="4800" smtClean="0">
                <a:solidFill>
                  <a:schemeClr val="tx1"/>
                </a:solidFill>
                <a:ea typeface="굴림" panose="020B0600000101010101" pitchFamily="50" charset="-127"/>
              </a:rPr>
              <a:t>철학과 인간</a:t>
            </a:r>
            <a:endParaRPr lang="en-US" altLang="ko-KR" sz="4800" smtClean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3075" name="Text Box 5"/>
          <p:cNvSpPr txBox="1">
            <a:spLocks noChangeArrowheads="1"/>
          </p:cNvSpPr>
          <p:nvPr/>
        </p:nvSpPr>
        <p:spPr bwMode="gray">
          <a:xfrm>
            <a:off x="3995738" y="4038600"/>
            <a:ext cx="31686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hlink"/>
                </a:solidFill>
                <a:latin typeface="Verdan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latinLnBrk="0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ko-KR" altLang="en-US" sz="2400" dirty="0" smtClean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철학이란 무엇인가</a:t>
            </a:r>
            <a:endParaRPr lang="en-US" altLang="ko-KR" sz="2400" dirty="0" smtClean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4100" name="Rectangle 6"/>
          <p:cNvSpPr>
            <a:spLocks noChangeArrowheads="1"/>
          </p:cNvSpPr>
          <p:nvPr/>
        </p:nvSpPr>
        <p:spPr bwMode="gray">
          <a:xfrm>
            <a:off x="3889375" y="4108450"/>
            <a:ext cx="73025" cy="322263"/>
          </a:xfrm>
          <a:prstGeom prst="rect">
            <a:avLst/>
          </a:prstGeom>
          <a:solidFill>
            <a:srgbClr val="CC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hlink"/>
                </a:solidFill>
                <a:latin typeface="Verdan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latinLnBrk="0" hangingPunct="1">
              <a:spcBef>
                <a:spcPct val="0"/>
              </a:spcBef>
              <a:buClrTx/>
              <a:buFontTx/>
              <a:buNone/>
            </a:pPr>
            <a:endParaRPr lang="ko-KR" altLang="en-US" sz="2000" b="0">
              <a:solidFill>
                <a:schemeClr val="tx1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971550" y="1052513"/>
            <a:ext cx="7632700" cy="38322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5400" b="1" kern="0" dirty="0">
                <a:solidFill>
                  <a:srgbClr val="7030A0"/>
                </a:solidFill>
                <a:latin typeface="Verdana"/>
                <a:ea typeface="굴림" pitchFamily="50" charset="-127"/>
                <a:cs typeface="+mj-cs"/>
              </a:rPr>
              <a:t>1. </a:t>
            </a:r>
            <a:r>
              <a:rPr lang="ko-KR" altLang="en-US" sz="5400" b="1" kern="0" dirty="0">
                <a:solidFill>
                  <a:srgbClr val="7030A0"/>
                </a:solidFill>
                <a:latin typeface="Verdana"/>
                <a:ea typeface="굴림" pitchFamily="50" charset="-127"/>
                <a:cs typeface="+mj-cs"/>
              </a:rPr>
              <a:t>철학의 개념</a:t>
            </a:r>
            <a:endParaRPr lang="en-US" altLang="ko-KR" sz="5400" b="1" kern="0" dirty="0">
              <a:solidFill>
                <a:srgbClr val="7030A0"/>
              </a:solidFill>
              <a:latin typeface="Verdana"/>
              <a:ea typeface="굴림" pitchFamily="50" charset="-127"/>
              <a:cs typeface="+mj-cs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5400" b="1" kern="0" dirty="0">
                <a:solidFill>
                  <a:srgbClr val="7030A0"/>
                </a:solidFill>
                <a:latin typeface="Verdana"/>
                <a:ea typeface="굴림" pitchFamily="50" charset="-127"/>
                <a:cs typeface="+mj-cs"/>
              </a:rPr>
              <a:t>2. </a:t>
            </a:r>
            <a:r>
              <a:rPr lang="ko-KR" altLang="en-US" sz="5400" b="1" kern="0" dirty="0">
                <a:solidFill>
                  <a:srgbClr val="7030A0"/>
                </a:solidFill>
                <a:latin typeface="Verdana"/>
                <a:ea typeface="굴림" pitchFamily="50" charset="-127"/>
                <a:cs typeface="+mj-cs"/>
              </a:rPr>
              <a:t>철학의 태도</a:t>
            </a:r>
            <a:endParaRPr lang="en-US" altLang="ko-KR" sz="5400" b="1" kern="0" dirty="0">
              <a:solidFill>
                <a:srgbClr val="7030A0"/>
              </a:solidFill>
              <a:latin typeface="Verdana"/>
              <a:ea typeface="굴림" pitchFamily="50" charset="-127"/>
              <a:cs typeface="+mj-cs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5400" b="1" kern="0" dirty="0">
                <a:solidFill>
                  <a:srgbClr val="7030A0"/>
                </a:solidFill>
                <a:latin typeface="Verdana"/>
                <a:ea typeface="굴림" pitchFamily="50" charset="-127"/>
                <a:cs typeface="+mj-cs"/>
              </a:rPr>
              <a:t>3. </a:t>
            </a:r>
            <a:r>
              <a:rPr lang="ko-KR" altLang="en-US" sz="5400" b="1" kern="0" dirty="0">
                <a:solidFill>
                  <a:srgbClr val="7030A0"/>
                </a:solidFill>
                <a:latin typeface="Verdana"/>
                <a:ea typeface="굴림" pitchFamily="50" charset="-127"/>
                <a:cs typeface="+mj-cs"/>
              </a:rPr>
              <a:t>철학의 가치</a:t>
            </a:r>
            <a:endParaRPr lang="en-US" altLang="ko-KR" sz="5400" b="1" kern="0" dirty="0">
              <a:solidFill>
                <a:srgbClr val="7030A0"/>
              </a:solidFill>
              <a:latin typeface="Verdana"/>
              <a:ea typeface="굴림" pitchFamily="50" charset="-127"/>
              <a:cs typeface="+mj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765175"/>
            <a:ext cx="8064500" cy="53308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sz="3600" dirty="0" smtClean="0">
                <a:solidFill>
                  <a:srgbClr val="7030A0"/>
                </a:solidFill>
                <a:ea typeface="굴림" pitchFamily="50" charset="-127"/>
              </a:rPr>
              <a:t>&lt; </a:t>
            </a:r>
            <a:r>
              <a:rPr lang="ko-KR" altLang="en-US" sz="3600" dirty="0" smtClean="0">
                <a:solidFill>
                  <a:srgbClr val="7030A0"/>
                </a:solidFill>
                <a:ea typeface="굴림" pitchFamily="50" charset="-127"/>
              </a:rPr>
              <a:t>철학의 개념</a:t>
            </a:r>
            <a:r>
              <a:rPr lang="en-US" altLang="ko-KR" sz="3600" dirty="0" smtClean="0">
                <a:solidFill>
                  <a:srgbClr val="7030A0"/>
                </a:solidFill>
                <a:ea typeface="굴림" pitchFamily="50" charset="-127"/>
              </a:rPr>
              <a:t>: </a:t>
            </a:r>
            <a:r>
              <a:rPr lang="ko-KR" altLang="en-US" sz="3600" dirty="0" smtClean="0">
                <a:solidFill>
                  <a:srgbClr val="7030A0"/>
                </a:solidFill>
                <a:ea typeface="굴림" pitchFamily="50" charset="-127"/>
              </a:rPr>
              <a:t>사전적 정의 </a:t>
            </a:r>
            <a:r>
              <a:rPr lang="en-US" altLang="ko-KR" sz="3600" dirty="0" smtClean="0">
                <a:solidFill>
                  <a:srgbClr val="7030A0"/>
                </a:solidFill>
                <a:ea typeface="굴림" pitchFamily="50" charset="-127"/>
              </a:rPr>
              <a:t>1 &gt;</a:t>
            </a:r>
            <a:br>
              <a:rPr lang="en-US" altLang="ko-KR" sz="3600" dirty="0" smtClean="0">
                <a:solidFill>
                  <a:srgbClr val="7030A0"/>
                </a:solidFill>
                <a:ea typeface="굴림" pitchFamily="50" charset="-127"/>
              </a:rPr>
            </a:br>
            <a:r>
              <a:rPr lang="en-US" altLang="ko-KR" sz="3600" dirty="0" smtClean="0">
                <a:solidFill>
                  <a:schemeClr val="tx1"/>
                </a:solidFill>
                <a:ea typeface="굴림" pitchFamily="50" charset="-127"/>
              </a:rPr>
              <a:t>	</a:t>
            </a:r>
            <a:r>
              <a:rPr lang="en-US" altLang="ko-KR" sz="3600" dirty="0" smtClean="0">
                <a:solidFill>
                  <a:srgbClr val="6E815B"/>
                </a:solidFill>
                <a:ea typeface="굴림" pitchFamily="50" charset="-127"/>
              </a:rPr>
              <a:t/>
            </a:r>
            <a:br>
              <a:rPr lang="en-US" altLang="ko-KR" sz="3600" dirty="0" smtClean="0">
                <a:solidFill>
                  <a:srgbClr val="6E815B"/>
                </a:solidFill>
                <a:ea typeface="굴림" pitchFamily="50" charset="-127"/>
              </a:rPr>
            </a:br>
            <a: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- </a:t>
            </a:r>
            <a:r>
              <a:rPr lang="ko-KR" altLang="en-US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인간과 </a:t>
            </a:r>
            <a:r>
              <a:rPr lang="ko-KR" altLang="en-US" sz="4000" dirty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세계에 대한 근본 원리와 삶의 본질 따위를 연구하는 </a:t>
            </a:r>
            <a:r>
              <a:rPr lang="ko-KR" altLang="en-US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학문 </a:t>
            </a:r>
            <a: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/>
            </a:r>
            <a:b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</a:br>
            <a: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/>
            </a:r>
            <a:b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</a:br>
            <a: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- </a:t>
            </a:r>
            <a:r>
              <a:rPr lang="ko-KR" altLang="en-US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세계와 </a:t>
            </a:r>
            <a:r>
              <a:rPr lang="ko-KR" altLang="en-US" sz="4000" dirty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인간의 삶에 대한 근본 원리 즉 인간의 본질</a:t>
            </a:r>
            <a:r>
              <a:rPr lang="en-US" altLang="ko-KR" sz="4000" dirty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, </a:t>
            </a:r>
            <a:r>
              <a:rPr lang="ko-KR" altLang="en-US" sz="4000" dirty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세계관 등을 탐구하는 학문</a:t>
            </a:r>
            <a:endParaRPr lang="en-US" altLang="ko-KR" sz="3600" dirty="0" smtClean="0">
              <a:solidFill>
                <a:srgbClr val="6E815B"/>
              </a:solidFill>
              <a:ea typeface="굴림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836613"/>
            <a:ext cx="8064500" cy="53308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sz="3600" dirty="0" smtClean="0">
                <a:solidFill>
                  <a:srgbClr val="7030A0"/>
                </a:solidFill>
                <a:ea typeface="굴림" pitchFamily="50" charset="-127"/>
              </a:rPr>
              <a:t>&lt; </a:t>
            </a:r>
            <a:r>
              <a:rPr lang="ko-KR" altLang="en-US" sz="3600" dirty="0" smtClean="0">
                <a:solidFill>
                  <a:srgbClr val="7030A0"/>
                </a:solidFill>
                <a:ea typeface="굴림" pitchFamily="50" charset="-127"/>
              </a:rPr>
              <a:t>철학의 개념</a:t>
            </a:r>
            <a:r>
              <a:rPr lang="en-US" altLang="ko-KR" sz="3600" dirty="0" smtClean="0">
                <a:solidFill>
                  <a:srgbClr val="7030A0"/>
                </a:solidFill>
                <a:ea typeface="굴림" pitchFamily="50" charset="-127"/>
              </a:rPr>
              <a:t>: </a:t>
            </a:r>
            <a:r>
              <a:rPr lang="ko-KR" altLang="en-US" sz="3600" dirty="0" smtClean="0">
                <a:solidFill>
                  <a:srgbClr val="7030A0"/>
                </a:solidFill>
                <a:ea typeface="굴림" pitchFamily="50" charset="-127"/>
              </a:rPr>
              <a:t>사전적 정의 </a:t>
            </a:r>
            <a:r>
              <a:rPr lang="en-US" altLang="ko-KR" sz="3600" dirty="0" smtClean="0">
                <a:solidFill>
                  <a:srgbClr val="7030A0"/>
                </a:solidFill>
                <a:ea typeface="굴림" pitchFamily="50" charset="-127"/>
              </a:rPr>
              <a:t>2 &gt;</a:t>
            </a:r>
            <a:br>
              <a:rPr lang="en-US" altLang="ko-KR" sz="3600" dirty="0" smtClean="0">
                <a:solidFill>
                  <a:srgbClr val="7030A0"/>
                </a:solidFill>
                <a:ea typeface="굴림" pitchFamily="50" charset="-127"/>
              </a:rPr>
            </a:br>
            <a:r>
              <a:rPr lang="en-US" altLang="ko-KR" sz="3600" dirty="0" smtClean="0">
                <a:solidFill>
                  <a:schemeClr val="tx1"/>
                </a:solidFill>
                <a:ea typeface="굴림" pitchFamily="50" charset="-127"/>
              </a:rPr>
              <a:t>	</a:t>
            </a:r>
            <a:r>
              <a:rPr lang="en-US" altLang="ko-KR" sz="3600" dirty="0" smtClean="0">
                <a:solidFill>
                  <a:srgbClr val="6E815B"/>
                </a:solidFill>
                <a:ea typeface="굴림" pitchFamily="50" charset="-127"/>
              </a:rPr>
              <a:t/>
            </a:r>
            <a:br>
              <a:rPr lang="en-US" altLang="ko-KR" sz="3600" dirty="0" smtClean="0">
                <a:solidFill>
                  <a:srgbClr val="6E815B"/>
                </a:solidFill>
                <a:ea typeface="굴림" pitchFamily="50" charset="-127"/>
              </a:rPr>
            </a:br>
            <a: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- </a:t>
            </a:r>
            <a:r>
              <a:rPr lang="ko-KR" altLang="en-US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자연과 인간 사회 문화 제 영역의 최고 원리와 통일 원리를 반성적으로 탐구하는 지적 활동 </a:t>
            </a:r>
            <a: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/>
            </a:r>
            <a:b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</a:br>
            <a:r>
              <a:rPr lang="ko-KR" altLang="en-US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또는 그 결실</a:t>
            </a:r>
            <a: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/>
            </a:r>
            <a:b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</a:br>
            <a:endParaRPr lang="en-US" altLang="ko-KR" sz="3600" dirty="0" smtClean="0">
              <a:solidFill>
                <a:srgbClr val="6E815B"/>
              </a:solidFill>
              <a:ea typeface="굴림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620713"/>
            <a:ext cx="8351837" cy="5073650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400" dirty="0" smtClean="0">
                <a:solidFill>
                  <a:srgbClr val="7030A0"/>
                </a:solidFill>
                <a:ea typeface="굴림" charset="-127"/>
              </a:rPr>
              <a:t>&lt; </a:t>
            </a:r>
            <a:r>
              <a:rPr lang="ko-KR" altLang="en-US" sz="4400" dirty="0" smtClean="0">
                <a:solidFill>
                  <a:srgbClr val="7030A0"/>
                </a:solidFill>
                <a:ea typeface="굴림" charset="-127"/>
              </a:rPr>
              <a:t>철학의 개념 </a:t>
            </a:r>
            <a:r>
              <a:rPr lang="en-US" altLang="ko-KR" sz="4400" dirty="0" smtClean="0">
                <a:solidFill>
                  <a:srgbClr val="7030A0"/>
                </a:solidFill>
                <a:ea typeface="굴림" charset="-127"/>
              </a:rPr>
              <a:t>&gt;</a:t>
            </a:r>
          </a:p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ko-KR" sz="4400" dirty="0" smtClean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- </a:t>
            </a:r>
            <a:r>
              <a:rPr lang="ko-KR" altLang="en-US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통속적 개념</a:t>
            </a:r>
            <a:r>
              <a:rPr lang="en-US" altLang="ko-KR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:</a:t>
            </a:r>
          </a:p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	</a:t>
            </a:r>
            <a:r>
              <a:rPr lang="ko-KR" altLang="en-US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철학에 대한 일반적인 생각</a:t>
            </a:r>
            <a:endParaRPr lang="en-US" altLang="ko-KR" sz="4400" dirty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3"/>
          <p:cNvSpPr>
            <a:spLocks noChangeArrowheads="1"/>
          </p:cNvSpPr>
          <p:nvPr/>
        </p:nvSpPr>
        <p:spPr bwMode="auto">
          <a:xfrm>
            <a:off x="323850" y="620713"/>
            <a:ext cx="8640763" cy="526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hlink"/>
                </a:solidFill>
                <a:latin typeface="Verdan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latinLnBrk="0">
              <a:spcBef>
                <a:spcPct val="0"/>
              </a:spcBef>
              <a:buClrTx/>
              <a:buFont typeface="Wingdings" panose="05000000000000000000" pitchFamily="2" charset="2"/>
              <a:buNone/>
              <a:defRPr/>
            </a:pPr>
            <a:r>
              <a:rPr lang="en-US" altLang="ko-KR" sz="4800" dirty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[</a:t>
            </a:r>
            <a:r>
              <a:rPr lang="ko-KR" altLang="en-US" sz="4800" dirty="0" smtClean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지윤 </a:t>
            </a:r>
            <a:r>
              <a:rPr lang="ko-KR" altLang="en-US" sz="4800" dirty="0" err="1" smtClean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철학원의</a:t>
            </a:r>
            <a:r>
              <a:rPr lang="ko-KR" altLang="en-US" sz="4800" dirty="0" smtClean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 </a:t>
            </a:r>
            <a:r>
              <a:rPr lang="ko-KR" altLang="en-US" sz="4800" dirty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오늘의 운세</a:t>
            </a:r>
            <a:r>
              <a:rPr lang="en-US" altLang="ko-KR" sz="4800" dirty="0" smtClean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]</a:t>
            </a:r>
          </a:p>
          <a:p>
            <a:pPr algn="just" latinLnBrk="0">
              <a:spcBef>
                <a:spcPct val="0"/>
              </a:spcBef>
              <a:buClrTx/>
              <a:buFont typeface="Wingdings" panose="05000000000000000000" pitchFamily="2" charset="2"/>
              <a:buNone/>
              <a:defRPr/>
            </a:pPr>
            <a:r>
              <a:rPr lang="en-US" altLang="ko-KR" sz="4800" dirty="0" smtClean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8</a:t>
            </a:r>
            <a:r>
              <a:rPr lang="ko-KR" altLang="en-US" sz="4800" dirty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월</a:t>
            </a:r>
            <a:r>
              <a:rPr lang="en-US" altLang="ko-KR" sz="4800" dirty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22</a:t>
            </a:r>
            <a:r>
              <a:rPr lang="ko-KR" altLang="en-US" sz="4800" dirty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일 범띠 </a:t>
            </a:r>
            <a:r>
              <a:rPr lang="en-US" altLang="ko-KR" sz="4800" dirty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"</a:t>
            </a:r>
            <a:r>
              <a:rPr lang="ko-KR" altLang="en-US" sz="4800" dirty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이런 저런 문제로 마음이 심란해진</a:t>
            </a:r>
            <a:r>
              <a:rPr lang="en-US" altLang="ko-KR" sz="4800" dirty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...</a:t>
            </a:r>
          </a:p>
          <a:p>
            <a:pPr algn="just" latinLnBrk="0">
              <a:spcBef>
                <a:spcPct val="0"/>
              </a:spcBef>
              <a:buClrTx/>
              <a:buFont typeface="Wingdings" panose="05000000000000000000" pitchFamily="2" charset="2"/>
              <a:buNone/>
              <a:defRPr/>
            </a:pPr>
            <a:endParaRPr lang="en-US" altLang="ko-KR" sz="4800" dirty="0" smtClean="0">
              <a:solidFill>
                <a:schemeClr val="accent6">
                  <a:lumMod val="50000"/>
                </a:schemeClr>
              </a:solidFill>
              <a:ea typeface="굴림" panose="020B0600000101010101" pitchFamily="50" charset="-127"/>
            </a:endParaRPr>
          </a:p>
          <a:p>
            <a:pPr algn="just" latinLnBrk="0">
              <a:spcBef>
                <a:spcPct val="0"/>
              </a:spcBef>
              <a:buClrTx/>
              <a:buFont typeface="Wingdings" panose="05000000000000000000" pitchFamily="2" charset="2"/>
              <a:buNone/>
              <a:defRPr/>
            </a:pPr>
            <a:r>
              <a:rPr lang="ko-KR" altLang="en-US" sz="4800" dirty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서울 광진구 </a:t>
            </a:r>
            <a:r>
              <a:rPr lang="en-US" altLang="ko-KR" sz="4800" dirty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"13∼15</a:t>
            </a:r>
            <a:r>
              <a:rPr lang="ko-KR" altLang="en-US" sz="4800" dirty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일 </a:t>
            </a:r>
            <a:endParaRPr lang="en-US" altLang="ko-KR" sz="4800" dirty="0" smtClean="0">
              <a:solidFill>
                <a:schemeClr val="accent6">
                  <a:lumMod val="50000"/>
                </a:schemeClr>
              </a:solidFill>
              <a:ea typeface="굴림" panose="020B0600000101010101" pitchFamily="50" charset="-127"/>
            </a:endParaRPr>
          </a:p>
          <a:p>
            <a:pPr algn="just" latinLnBrk="0">
              <a:spcBef>
                <a:spcPct val="0"/>
              </a:spcBef>
              <a:buClrTx/>
              <a:buFont typeface="Wingdings" panose="05000000000000000000" pitchFamily="2" charset="2"/>
              <a:buNone/>
              <a:defRPr/>
            </a:pPr>
            <a:r>
              <a:rPr lang="en-US" altLang="ko-KR" sz="4800" dirty="0" smtClean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'</a:t>
            </a:r>
            <a:r>
              <a:rPr lang="ko-KR" altLang="en-US" sz="4800" dirty="0" smtClean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태백 </a:t>
            </a:r>
            <a:r>
              <a:rPr lang="ko-KR" altLang="en-US" sz="4800" dirty="0" err="1" smtClean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철학원</a:t>
            </a:r>
            <a:r>
              <a:rPr lang="en-US" altLang="ko-KR" sz="4800" dirty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' </a:t>
            </a:r>
            <a:r>
              <a:rPr lang="ko-KR" altLang="en-US" sz="4800" dirty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방문자 </a:t>
            </a:r>
            <a:r>
              <a:rPr lang="ko-KR" altLang="en-US" sz="4800" dirty="0" smtClean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검사 받아야</a:t>
            </a:r>
            <a:r>
              <a:rPr lang="en-US" altLang="ko-KR" sz="4800" dirty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"</a:t>
            </a:r>
            <a:endParaRPr lang="en-US" altLang="ko-KR" sz="4800" dirty="0" smtClean="0">
              <a:solidFill>
                <a:schemeClr val="accent6">
                  <a:lumMod val="50000"/>
                </a:schemeClr>
              </a:solidFill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3"/>
          <p:cNvSpPr>
            <a:spLocks noChangeArrowheads="1"/>
          </p:cNvSpPr>
          <p:nvPr/>
        </p:nvSpPr>
        <p:spPr bwMode="auto">
          <a:xfrm>
            <a:off x="250825" y="908050"/>
            <a:ext cx="8640763" cy="483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hlink"/>
                </a:solidFill>
                <a:latin typeface="Verdan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latinLnBrk="0">
              <a:spcBef>
                <a:spcPct val="0"/>
              </a:spcBef>
              <a:buClrTx/>
              <a:buFont typeface="Wingdings" panose="05000000000000000000" pitchFamily="2" charset="2"/>
              <a:buNone/>
              <a:defRPr/>
            </a:pPr>
            <a:r>
              <a:rPr lang="en-US" altLang="ko-KR" sz="4400" dirty="0" smtClean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[</a:t>
            </a:r>
            <a:r>
              <a:rPr lang="en-US" altLang="ko-KR" sz="4400" dirty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2020 </a:t>
            </a:r>
            <a:r>
              <a:rPr lang="ko-KR" altLang="en-US" sz="4400" dirty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일자리 으뜸기업 분석</a:t>
            </a:r>
            <a:r>
              <a:rPr lang="en-US" altLang="ko-KR" sz="4400" dirty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(3)] </a:t>
            </a:r>
            <a:r>
              <a:rPr lang="ko-KR" altLang="en-US" sz="4400" dirty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마취제로 특화된 하나제약 ‘인재중시 철학’</a:t>
            </a:r>
            <a:r>
              <a:rPr lang="en-US" altLang="ko-KR" sz="4400" dirty="0" smtClean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.</a:t>
            </a:r>
          </a:p>
          <a:p>
            <a:pPr algn="just" latinLnBrk="0">
              <a:spcBef>
                <a:spcPct val="0"/>
              </a:spcBef>
              <a:buClrTx/>
              <a:buFont typeface="Wingdings" panose="05000000000000000000" pitchFamily="2" charset="2"/>
              <a:buNone/>
              <a:defRPr/>
            </a:pPr>
            <a:endParaRPr lang="en-US" altLang="ko-KR" sz="4400" dirty="0">
              <a:solidFill>
                <a:schemeClr val="accent6">
                  <a:lumMod val="50000"/>
                </a:schemeClr>
              </a:solidFill>
              <a:ea typeface="굴림" panose="020B0600000101010101" pitchFamily="50" charset="-127"/>
            </a:endParaRPr>
          </a:p>
          <a:p>
            <a:pPr algn="just" latinLnBrk="0">
              <a:spcBef>
                <a:spcPct val="0"/>
              </a:spcBef>
              <a:buClrTx/>
              <a:buFont typeface="Wingdings" panose="05000000000000000000" pitchFamily="2" charset="2"/>
              <a:buNone/>
              <a:defRPr/>
            </a:pPr>
            <a:r>
              <a:rPr lang="en-US" altLang="ko-KR" sz="4400" dirty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[</a:t>
            </a:r>
            <a:r>
              <a:rPr lang="ko-KR" altLang="en-US" sz="4400" dirty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업체탐방</a:t>
            </a:r>
            <a:r>
              <a:rPr lang="en-US" altLang="ko-KR" sz="4400" dirty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] </a:t>
            </a:r>
            <a:r>
              <a:rPr lang="ko-KR" altLang="en-US" sz="4400" dirty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제주도그릴 </a:t>
            </a:r>
            <a:r>
              <a:rPr lang="ko-KR" altLang="en-US" sz="4400" dirty="0" err="1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유선배</a:t>
            </a:r>
            <a:r>
              <a:rPr lang="ko-KR" altLang="en-US" sz="4400" dirty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 대표</a:t>
            </a:r>
            <a:r>
              <a:rPr lang="en-US" altLang="ko-KR" sz="4400" dirty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, </a:t>
            </a:r>
            <a:r>
              <a:rPr lang="ko-KR" altLang="en-US" sz="4400" dirty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착한 프랜차이즈 철학으로 불황 돌파한다</a:t>
            </a:r>
            <a:endParaRPr lang="en-US" altLang="ko-KR" sz="4400" dirty="0" smtClean="0">
              <a:solidFill>
                <a:schemeClr val="accent6">
                  <a:lumMod val="50000"/>
                </a:schemeClr>
              </a:solidFill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직사각형 3"/>
          <p:cNvSpPr>
            <a:spLocks noChangeArrowheads="1"/>
          </p:cNvSpPr>
          <p:nvPr/>
        </p:nvSpPr>
        <p:spPr bwMode="auto">
          <a:xfrm>
            <a:off x="250825" y="765175"/>
            <a:ext cx="8640763" cy="550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hlink"/>
                </a:solidFill>
                <a:latin typeface="Verdan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latinLnBrk="0">
              <a:spcBef>
                <a:spcPct val="0"/>
              </a:spcBef>
              <a:buClrTx/>
              <a:buFontTx/>
              <a:buNone/>
              <a:defRPr/>
            </a:pPr>
            <a:r>
              <a:rPr lang="ko-KR" altLang="en-US" sz="4400" dirty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안철수</a:t>
            </a:r>
            <a:r>
              <a:rPr lang="en-US" altLang="ko-KR" sz="4400" dirty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·</a:t>
            </a:r>
            <a:r>
              <a:rPr lang="ko-KR" altLang="en-US" sz="4400" dirty="0" err="1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진중권</a:t>
            </a:r>
            <a:r>
              <a:rPr lang="ko-KR" altLang="en-US" sz="4400" dirty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 </a:t>
            </a:r>
            <a:r>
              <a:rPr lang="en-US" altLang="ko-KR" sz="4400" dirty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"</a:t>
            </a:r>
            <a:r>
              <a:rPr lang="ko-KR" altLang="en-US" sz="4400" dirty="0" err="1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文정부</a:t>
            </a:r>
            <a:r>
              <a:rPr lang="en-US" altLang="ko-KR" sz="4400" dirty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, </a:t>
            </a:r>
            <a:r>
              <a:rPr lang="ko-KR" altLang="en-US" sz="4400" dirty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노무현 정부와 철학 </a:t>
            </a:r>
            <a:r>
              <a:rPr lang="ko-KR" altLang="en-US" sz="4400" dirty="0" smtClean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달라</a:t>
            </a:r>
            <a:r>
              <a:rPr lang="en-US" altLang="ko-KR" sz="4400" dirty="0" smtClean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“</a:t>
            </a:r>
          </a:p>
          <a:p>
            <a:pPr algn="just" latinLnBrk="0">
              <a:spcBef>
                <a:spcPct val="0"/>
              </a:spcBef>
              <a:buClrTx/>
              <a:buFontTx/>
              <a:buNone/>
              <a:defRPr/>
            </a:pPr>
            <a:r>
              <a:rPr lang="ko-KR" altLang="en-US" sz="4400" dirty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현직 검사 </a:t>
            </a:r>
            <a:r>
              <a:rPr lang="en-US" altLang="ko-KR" sz="4400" dirty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"</a:t>
            </a:r>
            <a:r>
              <a:rPr lang="ko-KR" altLang="en-US" sz="4400" dirty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법무부 직제개편안</a:t>
            </a:r>
            <a:r>
              <a:rPr lang="en-US" altLang="ko-KR" sz="4400" dirty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, </a:t>
            </a:r>
            <a:r>
              <a:rPr lang="ko-KR" altLang="en-US" sz="4400" dirty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연구나 철학적 고민 </a:t>
            </a:r>
            <a:r>
              <a:rPr lang="ko-KR" altLang="en-US" sz="4400" dirty="0" smtClean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없다</a:t>
            </a:r>
            <a:r>
              <a:rPr lang="en-US" altLang="ko-KR" sz="4400" dirty="0" smtClean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“</a:t>
            </a:r>
          </a:p>
          <a:p>
            <a:pPr algn="just" latinLnBrk="0">
              <a:spcBef>
                <a:spcPct val="0"/>
              </a:spcBef>
              <a:buClrTx/>
              <a:buFontTx/>
              <a:buNone/>
              <a:defRPr/>
            </a:pPr>
            <a:endParaRPr lang="ko-KR" altLang="en-US" sz="4400" dirty="0">
              <a:solidFill>
                <a:schemeClr val="accent6">
                  <a:lumMod val="50000"/>
                </a:schemeClr>
              </a:solidFill>
              <a:ea typeface="굴림" panose="020B0600000101010101" pitchFamily="50" charset="-127"/>
            </a:endParaRPr>
          </a:p>
          <a:p>
            <a:pPr algn="just" latinLnBrk="0">
              <a:spcBef>
                <a:spcPct val="0"/>
              </a:spcBef>
              <a:buClrTx/>
              <a:buFontTx/>
              <a:buNone/>
              <a:defRPr/>
            </a:pPr>
            <a:r>
              <a:rPr lang="en-US" altLang="ko-KR" sz="4400" dirty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'</a:t>
            </a:r>
            <a:r>
              <a:rPr lang="ko-KR" altLang="en-US" sz="4400" dirty="0" err="1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신박한</a:t>
            </a:r>
            <a:r>
              <a:rPr lang="ko-KR" altLang="en-US" sz="4400" dirty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 정리</a:t>
            </a:r>
            <a:r>
              <a:rPr lang="en-US" altLang="ko-KR" sz="4400" dirty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' </a:t>
            </a:r>
            <a:r>
              <a:rPr lang="ko-KR" altLang="en-US" sz="4400" dirty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장현성</a:t>
            </a:r>
            <a:r>
              <a:rPr lang="en-US" altLang="ko-KR" sz="4400" dirty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, </a:t>
            </a:r>
            <a:r>
              <a:rPr lang="ko-KR" altLang="en-US" sz="4400" dirty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교육철학 공개 </a:t>
            </a:r>
            <a:r>
              <a:rPr lang="en-US" altLang="ko-KR" sz="4400" dirty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"</a:t>
            </a:r>
            <a:r>
              <a:rPr lang="ko-KR" altLang="en-US" sz="4400" dirty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집에 </a:t>
            </a:r>
            <a:r>
              <a:rPr lang="en-US" altLang="ko-KR" sz="4400" dirty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TV </a:t>
            </a:r>
            <a:r>
              <a:rPr lang="ko-KR" altLang="en-US" sz="4400" dirty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없어</a:t>
            </a:r>
            <a:r>
              <a:rPr lang="en-US" altLang="ko-KR" sz="4400" dirty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, </a:t>
            </a:r>
            <a:r>
              <a:rPr lang="ko-KR" altLang="en-US" sz="4400" dirty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아이들은 </a:t>
            </a:r>
            <a:r>
              <a:rPr lang="ko-KR" altLang="en-US" sz="4400" dirty="0" err="1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스마트폰</a:t>
            </a:r>
            <a:r>
              <a:rPr lang="ko-KR" altLang="en-US" sz="4400" dirty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 </a:t>
            </a:r>
            <a:r>
              <a:rPr lang="en-US" altLang="ko-KR" sz="4400" dirty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NO</a:t>
            </a:r>
            <a:r>
              <a:rPr lang="en-US" altLang="ko-KR" sz="4400" dirty="0" smtClean="0">
                <a:solidFill>
                  <a:schemeClr val="accent6">
                    <a:lumMod val="50000"/>
                  </a:schemeClr>
                </a:solidFill>
                <a:ea typeface="굴림" panose="020B0600000101010101" pitchFamily="50" charset="-127"/>
              </a:rPr>
              <a:t>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836613"/>
            <a:ext cx="8569325" cy="5073650"/>
          </a:xfrm>
        </p:spPr>
        <p:txBody>
          <a:bodyPr/>
          <a:lstStyle/>
          <a:p>
            <a:pPr marL="0" indent="0" algn="just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- </a:t>
            </a:r>
            <a:r>
              <a:rPr lang="ko-KR" altLang="en-US" sz="4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철학에 대한 일반적 개념</a:t>
            </a:r>
            <a: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:</a:t>
            </a:r>
          </a:p>
          <a:p>
            <a:pPr marL="0" indent="0" algn="just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ko-KR" sz="4000" dirty="0" smtClean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  <a:p>
            <a:pPr marL="0" indent="0" algn="just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	</a:t>
            </a:r>
            <a:r>
              <a:rPr lang="ko-KR" altLang="en-US" sz="4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원리</a:t>
            </a:r>
            <a: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, </a:t>
            </a:r>
            <a:r>
              <a:rPr lang="ko-KR" altLang="en-US" sz="4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원칙</a:t>
            </a:r>
            <a: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, </a:t>
            </a:r>
            <a:r>
              <a:rPr lang="ko-KR" altLang="en-US" sz="4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전략</a:t>
            </a:r>
            <a: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, </a:t>
            </a:r>
            <a:r>
              <a:rPr lang="ko-KR" altLang="en-US" sz="4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소신</a:t>
            </a:r>
            <a: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, </a:t>
            </a:r>
          </a:p>
          <a:p>
            <a:pPr marL="0" indent="0" algn="just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000" dirty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	</a:t>
            </a:r>
            <a:r>
              <a:rPr lang="ko-KR" altLang="en-US" sz="4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정신</a:t>
            </a:r>
            <a: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, (</a:t>
            </a:r>
            <a:r>
              <a:rPr lang="ko-KR" altLang="en-US" sz="4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큰</a:t>
            </a:r>
            <a: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)</a:t>
            </a:r>
            <a:r>
              <a:rPr lang="ko-KR" altLang="en-US" sz="4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 생각</a:t>
            </a:r>
            <a: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, </a:t>
            </a:r>
          </a:p>
          <a:p>
            <a:pPr marL="0" indent="0" algn="just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000" dirty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	</a:t>
            </a:r>
            <a:r>
              <a:rPr lang="ko-KR" altLang="en-US" sz="4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인생관</a:t>
            </a:r>
            <a: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, </a:t>
            </a:r>
            <a:r>
              <a:rPr lang="ko-KR" altLang="en-US" sz="4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가치관</a:t>
            </a:r>
            <a: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, </a:t>
            </a:r>
            <a:r>
              <a:rPr lang="ko-KR" altLang="en-US" sz="4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세계관</a:t>
            </a:r>
            <a:endParaRPr lang="en-US" altLang="ko-KR" sz="4000" dirty="0" smtClean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  <a:p>
            <a:pPr marL="0" indent="0" algn="just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ko-KR" sz="4000" dirty="0" smtClean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  <a:p>
            <a:pPr marL="0" indent="0" algn="just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	</a:t>
            </a:r>
            <a: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  <a:sym typeface="Wingdings" panose="05000000000000000000" pitchFamily="2" charset="2"/>
              </a:rPr>
              <a:t> </a:t>
            </a:r>
            <a:r>
              <a:rPr lang="ko-KR" altLang="en-US" sz="4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  <a:sym typeface="Wingdings" panose="05000000000000000000" pitchFamily="2" charset="2"/>
              </a:rPr>
              <a:t>주관적</a:t>
            </a:r>
            <a: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  <a:sym typeface="Wingdings" panose="05000000000000000000" pitchFamily="2" charset="2"/>
              </a:rPr>
              <a:t>. </a:t>
            </a:r>
            <a:r>
              <a:rPr lang="ko-KR" altLang="en-US" sz="4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우연적</a:t>
            </a:r>
            <a: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. </a:t>
            </a:r>
          </a:p>
          <a:p>
            <a:pPr marL="0" indent="0" algn="just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000" dirty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	</a:t>
            </a:r>
            <a: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	</a:t>
            </a:r>
            <a:r>
              <a:rPr lang="ko-KR" altLang="en-US" sz="4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수동적</a:t>
            </a:r>
            <a: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. </a:t>
            </a:r>
            <a:r>
              <a:rPr lang="ko-KR" altLang="en-US" sz="4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관습적</a:t>
            </a:r>
            <a: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620713"/>
            <a:ext cx="8569325" cy="5505450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37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“</a:t>
            </a:r>
            <a:r>
              <a:rPr lang="ko-KR" altLang="en-US" sz="37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여타의 모든 학문에서는 </a:t>
            </a:r>
            <a:r>
              <a:rPr lang="en-US" altLang="ko-KR" sz="37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(</a:t>
            </a:r>
            <a:r>
              <a:rPr lang="ko-KR" altLang="en-US" sz="37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전문가가 있겠거니 하고</a:t>
            </a:r>
            <a:r>
              <a:rPr lang="en-US" altLang="ko-KR" sz="37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) </a:t>
            </a:r>
            <a:r>
              <a:rPr lang="ko-KR" altLang="en-US" sz="37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조심성 있게 침묵으로 관망하는 사람들도 형이상학</a:t>
            </a:r>
            <a:r>
              <a:rPr lang="en-US" altLang="ko-KR" sz="37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(</a:t>
            </a:r>
            <a:r>
              <a:rPr lang="ko-KR" altLang="en-US" sz="37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철학</a:t>
            </a:r>
            <a:r>
              <a:rPr lang="en-US" altLang="ko-KR" sz="37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)</a:t>
            </a:r>
            <a:r>
              <a:rPr lang="ko-KR" altLang="en-US" sz="37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적 문제에 관해서는</a:t>
            </a:r>
            <a:r>
              <a:rPr lang="en-US" altLang="ko-KR" sz="37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, </a:t>
            </a:r>
            <a:r>
              <a:rPr lang="ko-KR" altLang="en-US" sz="37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다른 학문에 비해 그들의 무식이 뚜렷이 드러나지 않음을 기화로</a:t>
            </a:r>
            <a:r>
              <a:rPr lang="en-US" altLang="ko-KR" sz="37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, </a:t>
            </a:r>
            <a:r>
              <a:rPr lang="ko-KR" altLang="en-US" sz="37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대가인양 지껄이고 대담하게 단정한다</a:t>
            </a:r>
            <a:r>
              <a:rPr lang="en-US" altLang="ko-KR" sz="37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.”</a:t>
            </a:r>
            <a:endParaRPr lang="en-US" altLang="ko-KR" sz="3700" dirty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620713"/>
            <a:ext cx="8569325" cy="5505450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37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“</a:t>
            </a:r>
            <a:r>
              <a:rPr lang="ko-KR" altLang="en-US" sz="37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사람들은 하다못해 구두 한 켤레를 만들기 위해서도</a:t>
            </a:r>
            <a:r>
              <a:rPr lang="en-US" altLang="ko-KR" sz="37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 (</a:t>
            </a:r>
            <a:r>
              <a:rPr lang="ko-KR" altLang="en-US" sz="37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중략</a:t>
            </a:r>
            <a:r>
              <a:rPr lang="en-US" altLang="ko-KR" sz="37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) </a:t>
            </a:r>
            <a:r>
              <a:rPr lang="ko-KR" altLang="en-US" sz="37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구두 만드는 법을 배우고 훈련을 쌓아야 한다는 것을 인정하면서</a:t>
            </a:r>
            <a:r>
              <a:rPr lang="en-US" altLang="ko-KR" sz="37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, </a:t>
            </a:r>
            <a:r>
              <a:rPr lang="ko-KR" altLang="en-US" sz="37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유독 </a:t>
            </a:r>
            <a:r>
              <a:rPr lang="ko-KR" altLang="en-US" sz="3700" dirty="0" err="1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철학함에</a:t>
            </a:r>
            <a:r>
              <a:rPr lang="ko-KR" altLang="en-US" sz="37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 대해서만은 그러한 연구나 배움 내지는 노고가 필요치 않다고들 말한다</a:t>
            </a:r>
            <a:r>
              <a:rPr lang="en-US" altLang="ko-KR" sz="37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.”</a:t>
            </a:r>
            <a:endParaRPr lang="en-US" altLang="ko-KR" sz="3700" dirty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836613"/>
            <a:ext cx="8351837" cy="4857750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- </a:t>
            </a:r>
            <a:r>
              <a:rPr lang="ko-KR" altLang="en-US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철학에 대한 통속적인 개념이 전문적이지 않고 두루뭉실한 데에 그치는 이유는 철학 개념의 기원적 의미가 그러하기 때문이다</a:t>
            </a:r>
            <a:r>
              <a:rPr lang="en-US" altLang="ko-KR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.</a:t>
            </a:r>
            <a:endParaRPr lang="en-US" altLang="ko-KR" sz="4400" dirty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1052513"/>
            <a:ext cx="8351837" cy="4641850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5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- </a:t>
            </a:r>
            <a:r>
              <a:rPr lang="ko-KR" altLang="en-US" sz="5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철학 개념의 기원</a:t>
            </a:r>
            <a:endParaRPr lang="en-US" altLang="ko-KR" sz="5400" dirty="0" smtClean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5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	</a:t>
            </a:r>
            <a:r>
              <a:rPr lang="en-US" altLang="ko-KR" sz="5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  <a:sym typeface="Wingdings" panose="05000000000000000000" pitchFamily="2" charset="2"/>
              </a:rPr>
              <a:t> </a:t>
            </a:r>
            <a:r>
              <a:rPr lang="en-US" altLang="ko-KR" sz="5400" dirty="0" err="1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philosophia</a:t>
            </a:r>
            <a:r>
              <a:rPr lang="en-US" altLang="ko-KR" sz="5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 </a:t>
            </a:r>
          </a:p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5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			</a:t>
            </a:r>
            <a:r>
              <a:rPr lang="ko-KR" altLang="en-US" sz="5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지혜에 대한 사랑</a:t>
            </a:r>
            <a:endParaRPr lang="en-US" altLang="ko-KR" sz="5400" dirty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908050"/>
            <a:ext cx="8351838" cy="4681538"/>
          </a:xfrm>
        </p:spPr>
        <p:txBody>
          <a:bodyPr/>
          <a:lstStyle/>
          <a:p>
            <a:pPr marL="514350" indent="-51435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ko-KR" altLang="en-US" sz="6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지혜</a:t>
            </a:r>
            <a:r>
              <a:rPr lang="en-US" altLang="ko-KR" sz="6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(</a:t>
            </a:r>
            <a:r>
              <a:rPr lang="en-US" altLang="ko-KR" sz="6000" dirty="0" err="1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sophia</a:t>
            </a:r>
            <a:r>
              <a:rPr lang="en-US" altLang="ko-KR" sz="6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)</a:t>
            </a:r>
          </a:p>
          <a:p>
            <a:pPr marL="514350" indent="-51435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6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				+</a:t>
            </a:r>
            <a:endParaRPr lang="en-US" altLang="ko-KR" sz="6000" dirty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  <a:p>
            <a:pPr marL="514350" indent="-51435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ko-KR" altLang="en-US" sz="6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사랑</a:t>
            </a:r>
            <a:r>
              <a:rPr lang="en-US" altLang="ko-KR" sz="6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(</a:t>
            </a:r>
            <a:r>
              <a:rPr lang="en-US" altLang="ko-KR" sz="6000" dirty="0" err="1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philos</a:t>
            </a:r>
            <a:r>
              <a:rPr lang="en-US" altLang="ko-KR" sz="6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620713"/>
            <a:ext cx="8301037" cy="5434012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de-DE" altLang="ko-KR" sz="32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„</a:t>
            </a:r>
            <a:r>
              <a:rPr lang="ko-KR" altLang="de-DE" sz="3200" dirty="0" err="1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파이드로스여</a:t>
            </a:r>
            <a:r>
              <a:rPr lang="de-DE" altLang="ko-KR" sz="32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, </a:t>
            </a:r>
            <a:r>
              <a:rPr lang="ko-KR" altLang="en-US" sz="32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누군가를 지혜 있다고 일컫는 것은</a:t>
            </a:r>
            <a:r>
              <a:rPr lang="en-US" altLang="ko-KR" sz="32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, </a:t>
            </a:r>
            <a:r>
              <a:rPr lang="ko-KR" altLang="en-US" sz="32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내가 보기엔 너무 높이 올라간 것 같고 그런 말은 신에게나 적용하면 적절한 것 같네</a:t>
            </a:r>
            <a:r>
              <a:rPr lang="en-US" altLang="ko-KR" sz="32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. </a:t>
            </a:r>
            <a:r>
              <a:rPr lang="ko-KR" altLang="en-US" sz="32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그러나 지혜를 사랑하는 자</a:t>
            </a:r>
            <a:r>
              <a:rPr lang="en-US" altLang="ko-KR" sz="32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(</a:t>
            </a:r>
            <a:r>
              <a:rPr lang="en-US" altLang="ko-KR" sz="3200" dirty="0" err="1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philosophos</a:t>
            </a:r>
            <a:r>
              <a:rPr lang="en-US" altLang="ko-KR" sz="32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) </a:t>
            </a:r>
            <a:r>
              <a:rPr lang="ko-KR" altLang="en-US" sz="32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혹은 그 비슷한 말로 일컫는다면</a:t>
            </a:r>
            <a:r>
              <a:rPr lang="en-US" altLang="ko-KR" sz="32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, </a:t>
            </a:r>
            <a:r>
              <a:rPr lang="ko-KR" altLang="en-US" sz="32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그 자신도 차라리 동의할 것이고</a:t>
            </a:r>
            <a:r>
              <a:rPr lang="en-US" altLang="ko-KR" sz="32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, </a:t>
            </a:r>
            <a:r>
              <a:rPr lang="ko-KR" altLang="en-US" sz="32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더 합당할 것 같네</a:t>
            </a:r>
            <a:r>
              <a:rPr lang="en-US" altLang="ko-KR" sz="32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(</a:t>
            </a:r>
            <a:r>
              <a:rPr lang="en-US" altLang="ko-KR" sz="3200" dirty="0" err="1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Platon</a:t>
            </a:r>
            <a:r>
              <a:rPr lang="en-US" altLang="ko-KR" sz="32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, </a:t>
            </a:r>
            <a:r>
              <a:rPr lang="en-US" altLang="ko-KR" sz="3200" dirty="0" err="1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Phaidros</a:t>
            </a:r>
            <a:r>
              <a:rPr lang="en-US" altLang="ko-KR" sz="32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, 278d).”</a:t>
            </a:r>
            <a:r>
              <a:rPr lang="de-DE" altLang="ko-KR" sz="32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908050"/>
            <a:ext cx="8351838" cy="4681538"/>
          </a:xfrm>
        </p:spPr>
        <p:txBody>
          <a:bodyPr/>
          <a:lstStyle/>
          <a:p>
            <a:pPr marL="0" indent="0" algn="just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6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- </a:t>
            </a:r>
            <a:r>
              <a:rPr lang="ko-KR" altLang="en-US" sz="6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지혜를 사랑</a:t>
            </a:r>
            <a:r>
              <a:rPr lang="en-US" altLang="ko-KR" sz="6000" dirty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(</a:t>
            </a:r>
            <a:r>
              <a:rPr lang="ko-KR" altLang="en-US" sz="6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추구</a:t>
            </a:r>
            <a:r>
              <a:rPr lang="en-US" altLang="ko-KR" sz="6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)</a:t>
            </a:r>
            <a:r>
              <a:rPr lang="ko-KR" altLang="en-US" sz="6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하는 자의 의미</a:t>
            </a:r>
            <a:endParaRPr lang="en-US" altLang="ko-KR" sz="6000" dirty="0" smtClean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  <a:p>
            <a:pPr marL="0" indent="0" algn="just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ko-KR" sz="6000" dirty="0" smtClean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  <a:p>
            <a:pPr marL="0" indent="0" algn="just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6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  <a:sym typeface="Wingdings" panose="05000000000000000000" pitchFamily="2" charset="2"/>
              </a:rPr>
              <a:t> </a:t>
            </a:r>
            <a:r>
              <a:rPr lang="ko-KR" altLang="en-US" sz="6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무지와 완전한 지혜 사이에 있는 중간자</a:t>
            </a:r>
            <a:endParaRPr lang="en-US" altLang="ko-KR" sz="6000" dirty="0" smtClean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549275"/>
            <a:ext cx="8351838" cy="5903913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ko-KR" altLang="en-US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철학</a:t>
            </a:r>
            <a:r>
              <a:rPr lang="en-US" altLang="ko-KR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(</a:t>
            </a:r>
            <a:r>
              <a:rPr lang="ko-KR" altLang="en-US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애지</a:t>
            </a:r>
            <a:r>
              <a:rPr lang="en-US" altLang="ko-KR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) </a:t>
            </a:r>
          </a:p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= </a:t>
            </a:r>
            <a:r>
              <a:rPr lang="ko-KR" altLang="en-US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완전한 지를 얻기 위해 부단히 애쓰는 것 </a:t>
            </a:r>
            <a:endParaRPr lang="en-US" altLang="ko-KR" sz="4800" dirty="0" smtClean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= </a:t>
            </a:r>
            <a:r>
              <a:rPr lang="ko-KR" altLang="en-US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끊임없이 알고자 하는 것 </a:t>
            </a:r>
            <a:endParaRPr lang="en-US" altLang="ko-KR" sz="4800" dirty="0" smtClean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= </a:t>
            </a:r>
            <a:r>
              <a:rPr lang="ko-KR" altLang="en-US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지식 </a:t>
            </a:r>
            <a:r>
              <a:rPr lang="en-US" altLang="ko-KR" sz="4800" dirty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(</a:t>
            </a:r>
            <a:r>
              <a:rPr lang="ko-KR" altLang="en-US" sz="4800" dirty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학문</a:t>
            </a:r>
            <a:r>
              <a:rPr lang="en-US" altLang="ko-KR" sz="4800" dirty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) </a:t>
            </a:r>
            <a:r>
              <a:rPr lang="ko-KR" altLang="en-US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일반</a:t>
            </a:r>
            <a:endParaRPr lang="en-US" altLang="ko-KR" sz="4800" dirty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692150"/>
            <a:ext cx="8424862" cy="5616575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5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- (</a:t>
            </a:r>
            <a:r>
              <a:rPr lang="ko-KR" altLang="en-US" sz="5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철</a:t>
            </a:r>
            <a:r>
              <a:rPr lang="en-US" altLang="ko-KR" sz="5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)</a:t>
            </a:r>
            <a:r>
              <a:rPr lang="ko-KR" altLang="en-US" sz="5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학이란 본래 무언가를 더 많이 알고</a:t>
            </a:r>
            <a:r>
              <a:rPr lang="en-US" altLang="ko-KR" sz="5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, </a:t>
            </a:r>
            <a:r>
              <a:rPr lang="ko-KR" altLang="en-US" sz="5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더 잘 알기 위해 끊임없이 노력하는 활동 전반을 뜻하는 광범위한 개념이다</a:t>
            </a:r>
            <a:r>
              <a:rPr lang="en-US" altLang="ko-KR" sz="5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.</a:t>
            </a:r>
            <a:endParaRPr lang="en-US" altLang="ko-KR" sz="5000" dirty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908050"/>
            <a:ext cx="8351838" cy="4681538"/>
          </a:xfrm>
        </p:spPr>
        <p:txBody>
          <a:bodyPr/>
          <a:lstStyle/>
          <a:p>
            <a:pPr marL="514350" indent="-514350" algn="just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400" dirty="0" smtClean="0">
                <a:solidFill>
                  <a:srgbClr val="7030A0"/>
                </a:solidFill>
                <a:ea typeface="굴림" charset="-127"/>
              </a:rPr>
              <a:t>&lt; </a:t>
            </a:r>
            <a:r>
              <a:rPr lang="ko-KR" altLang="en-US" sz="4400" dirty="0" smtClean="0">
                <a:solidFill>
                  <a:srgbClr val="7030A0"/>
                </a:solidFill>
                <a:ea typeface="굴림" charset="-127"/>
              </a:rPr>
              <a:t>지혜의 개념 </a:t>
            </a:r>
            <a:r>
              <a:rPr lang="en-US" altLang="ko-KR" sz="4400" dirty="0" smtClean="0">
                <a:solidFill>
                  <a:srgbClr val="7030A0"/>
                </a:solidFill>
                <a:ea typeface="굴림" charset="-127"/>
              </a:rPr>
              <a:t>&gt;</a:t>
            </a:r>
          </a:p>
          <a:p>
            <a:pPr marL="514350" indent="-514350" algn="just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ko-KR" sz="4400" dirty="0" smtClean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  <a:p>
            <a:pPr marL="514350" indent="-514350" algn="just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ko-KR" altLang="en-US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지식에서 지혜로</a:t>
            </a:r>
            <a:endParaRPr lang="en-US" altLang="ko-KR" sz="4400" dirty="0" smtClean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  <a:p>
            <a:pPr marL="514350" indent="-514350" algn="just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400" dirty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			</a:t>
            </a:r>
            <a:r>
              <a:rPr lang="en-US" altLang="ko-KR" sz="4400" dirty="0">
                <a:solidFill>
                  <a:schemeClr val="accent2">
                    <a:lumMod val="50000"/>
                  </a:schemeClr>
                </a:solidFill>
                <a:ea typeface="굴림" charset="-127"/>
                <a:sym typeface="Wingdings" panose="05000000000000000000" pitchFamily="2" charset="2"/>
              </a:rPr>
              <a:t> </a:t>
            </a:r>
            <a:r>
              <a:rPr lang="en-US" altLang="ko-KR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  <a:sym typeface="Wingdings" panose="05000000000000000000" pitchFamily="2" charset="2"/>
              </a:rPr>
              <a:t>(</a:t>
            </a:r>
            <a:r>
              <a:rPr lang="ko-KR" altLang="en-US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지식 </a:t>
            </a:r>
            <a:r>
              <a:rPr lang="en-US" altLang="ko-KR" sz="4400" dirty="0">
                <a:solidFill>
                  <a:schemeClr val="accent2">
                    <a:lumMod val="50000"/>
                  </a:schemeClr>
                </a:solidFill>
                <a:ea typeface="굴림" charset="-127"/>
                <a:sym typeface="Wingdings" panose="05000000000000000000" pitchFamily="2" charset="2"/>
              </a:rPr>
              <a:t></a:t>
            </a:r>
            <a:r>
              <a:rPr lang="ko-KR" altLang="en-US" sz="4400" dirty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 </a:t>
            </a:r>
            <a:r>
              <a:rPr lang="ko-KR" altLang="en-US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지혜</a:t>
            </a:r>
            <a:r>
              <a:rPr lang="en-US" altLang="ko-KR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)</a:t>
            </a:r>
          </a:p>
          <a:p>
            <a:pPr marL="514350" indent="-514350" algn="just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ko-KR" sz="4400" dirty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  <a:p>
            <a:pPr marL="514350" indent="-514350" algn="just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ko-KR" altLang="en-US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지혜란 </a:t>
            </a:r>
            <a:r>
              <a:rPr lang="ko-KR" altLang="en-US" sz="4400" dirty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무엇인가</a:t>
            </a:r>
            <a:r>
              <a:rPr lang="en-US" altLang="ko-KR" sz="4400" dirty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?</a:t>
            </a:r>
          </a:p>
          <a:p>
            <a:pPr marL="514350" indent="-51435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400" dirty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	</a:t>
            </a:r>
            <a:endParaRPr lang="en-US" altLang="ko-KR" sz="4400" dirty="0" smtClean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404813"/>
            <a:ext cx="8229600" cy="5976937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de-DE" altLang="ko-KR" dirty="0" smtClean="0">
                <a:ea typeface="굴림" pitchFamily="50" charset="-127"/>
              </a:rPr>
              <a:t> </a:t>
            </a:r>
            <a:r>
              <a:rPr lang="de-DE" altLang="ko-KR" sz="3200" dirty="0" smtClean="0">
                <a:solidFill>
                  <a:schemeClr val="tx1"/>
                </a:solidFill>
                <a:ea typeface="굴림" pitchFamily="50" charset="-127"/>
              </a:rPr>
              <a:t>&lt;</a:t>
            </a:r>
            <a:r>
              <a:rPr lang="ko-KR" altLang="en-US" sz="3200" dirty="0" smtClean="0">
                <a:solidFill>
                  <a:schemeClr val="tx1"/>
                </a:solidFill>
                <a:ea typeface="굴림" pitchFamily="50" charset="-127"/>
              </a:rPr>
              <a:t>지식의 단계와 지혜의 의미</a:t>
            </a:r>
            <a:r>
              <a:rPr lang="en-US" altLang="ko-KR" sz="3200" dirty="0" smtClean="0">
                <a:solidFill>
                  <a:schemeClr val="tx1"/>
                </a:solidFill>
                <a:ea typeface="굴림" pitchFamily="50" charset="-127"/>
              </a:rPr>
              <a:t>&gt;</a:t>
            </a:r>
          </a:p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3200" dirty="0" smtClean="0">
                <a:solidFill>
                  <a:schemeClr val="tx1"/>
                </a:solidFill>
                <a:ea typeface="굴림" pitchFamily="50" charset="-127"/>
              </a:rPr>
              <a:t>				</a:t>
            </a:r>
            <a:r>
              <a:rPr lang="en-US" altLang="ko-KR" sz="3200" dirty="0">
                <a:solidFill>
                  <a:schemeClr val="tx1"/>
                </a:solidFill>
                <a:ea typeface="굴림" pitchFamily="50" charset="-127"/>
              </a:rPr>
              <a:t>	</a:t>
            </a:r>
            <a:r>
              <a:rPr lang="en-US" altLang="ko-KR" sz="3200" dirty="0" smtClean="0">
                <a:solidFill>
                  <a:schemeClr val="tx1"/>
                </a:solidFill>
                <a:ea typeface="굴림" pitchFamily="50" charset="-127"/>
              </a:rPr>
              <a:t>(</a:t>
            </a:r>
            <a:r>
              <a:rPr lang="ko-KR" altLang="en-US" sz="3200" dirty="0" smtClean="0">
                <a:solidFill>
                  <a:schemeClr val="tx1"/>
                </a:solidFill>
                <a:ea typeface="굴림" pitchFamily="50" charset="-127"/>
              </a:rPr>
              <a:t>아리스토텔레스</a:t>
            </a:r>
            <a:r>
              <a:rPr lang="en-US" altLang="ko-KR" sz="3200" dirty="0" smtClean="0">
                <a:solidFill>
                  <a:schemeClr val="tx1"/>
                </a:solidFill>
                <a:ea typeface="굴림" pitchFamily="50" charset="-127"/>
              </a:rPr>
              <a:t>)</a:t>
            </a:r>
            <a:endParaRPr lang="ko-KR" altLang="en-US" sz="3200" dirty="0" smtClean="0">
              <a:solidFill>
                <a:schemeClr val="tx1"/>
              </a:solidFill>
              <a:ea typeface="굴림" pitchFamily="50" charset="-127"/>
            </a:endParaRPr>
          </a:p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36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	</a:t>
            </a:r>
            <a:r>
              <a:rPr lang="ko-KR" altLang="en-US" sz="36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① 감각 </a:t>
            </a:r>
            <a:r>
              <a:rPr lang="de-DE" altLang="ko-KR" sz="36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	</a:t>
            </a:r>
          </a:p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36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		</a:t>
            </a:r>
            <a:r>
              <a:rPr lang="ko-KR" altLang="en-US" sz="36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② 기억</a:t>
            </a:r>
          </a:p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36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			</a:t>
            </a:r>
            <a:r>
              <a:rPr lang="ko-KR" altLang="en-US" sz="36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③ 경험</a:t>
            </a:r>
            <a:r>
              <a:rPr lang="de-DE" altLang="ko-KR" sz="36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		</a:t>
            </a:r>
          </a:p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36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				</a:t>
            </a:r>
            <a:r>
              <a:rPr lang="ko-KR" altLang="en-US" sz="36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④ 기술</a:t>
            </a:r>
            <a:endParaRPr lang="en-US" altLang="ko-KR" sz="3600" dirty="0" smtClean="0">
              <a:solidFill>
                <a:schemeClr val="accent2">
                  <a:lumMod val="50000"/>
                </a:schemeClr>
              </a:solidFill>
              <a:ea typeface="굴림" pitchFamily="50" charset="-127"/>
            </a:endParaRPr>
          </a:p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36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					</a:t>
            </a:r>
            <a:r>
              <a:rPr lang="ko-KR" altLang="en-US" sz="36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⑤ 이론적 학문</a:t>
            </a:r>
          </a:p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de-DE" altLang="ko-KR" sz="3200" dirty="0" smtClean="0">
              <a:solidFill>
                <a:schemeClr val="accent2">
                  <a:lumMod val="50000"/>
                </a:schemeClr>
              </a:solidFill>
              <a:ea typeface="굴림" pitchFamily="50" charset="-127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765175"/>
            <a:ext cx="8516938" cy="5327650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ko-KR" altLang="en-US" sz="32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지식 그 자체를 알고자 하는 사람이라면 모름지기 </a:t>
            </a:r>
            <a:r>
              <a:rPr lang="en-US" altLang="ko-KR" sz="32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(</a:t>
            </a:r>
            <a:r>
              <a:rPr lang="ko-KR" altLang="en-US" sz="32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하위의 지식이 아니고</a:t>
            </a:r>
            <a:r>
              <a:rPr lang="en-US" altLang="ko-KR" sz="32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) </a:t>
            </a:r>
            <a:r>
              <a:rPr lang="ko-KR" altLang="en-US" sz="32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최상위의 지식을 선택하려 할 텐데</a:t>
            </a:r>
            <a:r>
              <a:rPr lang="en-US" altLang="ko-KR" sz="32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, </a:t>
            </a:r>
            <a:r>
              <a:rPr lang="ko-KR" altLang="en-US" sz="32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제 일 원리들과 원인들이 바로 최상위의 지식인 것이다</a:t>
            </a:r>
            <a:r>
              <a:rPr lang="en-US" altLang="ko-KR" sz="32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. </a:t>
            </a:r>
            <a:r>
              <a:rPr lang="ko-KR" altLang="en-US" sz="32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왜냐하면 이것들을 통해서</a:t>
            </a:r>
            <a:r>
              <a:rPr lang="en-US" altLang="ko-KR" sz="32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, </a:t>
            </a:r>
            <a:r>
              <a:rPr lang="ko-KR" altLang="en-US" sz="32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그리고 이것들로부터 다른 것들이 알려지는 것이지</a:t>
            </a:r>
            <a:r>
              <a:rPr lang="en-US" altLang="ko-KR" sz="32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, </a:t>
            </a:r>
            <a:r>
              <a:rPr lang="ko-KR" altLang="en-US" sz="32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그 아래에 놓인 것들을 통해서 이것들이 알려지는 것이 아니기 때문이다</a:t>
            </a:r>
            <a:r>
              <a:rPr lang="en-US" altLang="ko-KR" sz="32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.</a:t>
            </a:r>
          </a:p>
          <a:p>
            <a:pPr marL="0" indent="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ko-KR" dirty="0" smtClean="0">
              <a:solidFill>
                <a:schemeClr val="accent2">
                  <a:lumMod val="50000"/>
                </a:schemeClr>
              </a:solidFill>
              <a:ea typeface="굴림" pitchFamily="50" charset="-127"/>
            </a:endParaRPr>
          </a:p>
          <a:p>
            <a:pPr marL="0" indent="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ko-KR" altLang="en-US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 </a:t>
            </a:r>
            <a:endParaRPr lang="de-DE" altLang="ko-KR" dirty="0" smtClean="0">
              <a:ea typeface="굴림" pitchFamily="50" charset="-127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620713"/>
            <a:ext cx="8229600" cy="5688012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‘</a:t>
            </a:r>
            <a:r>
              <a:rPr lang="ko-KR" altLang="en-US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지혜</a:t>
            </a:r>
            <a: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’</a:t>
            </a:r>
          </a:p>
          <a:p>
            <a:pPr marL="0" indent="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= </a:t>
            </a:r>
            <a:r>
              <a:rPr lang="ko-KR" altLang="en-US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최상위의 기술과 지식 </a:t>
            </a:r>
            <a:endParaRPr lang="en-US" altLang="ko-KR" sz="4000" dirty="0" smtClean="0">
              <a:solidFill>
                <a:schemeClr val="accent2">
                  <a:lumMod val="50000"/>
                </a:schemeClr>
              </a:solidFill>
              <a:ea typeface="굴림" pitchFamily="50" charset="-127"/>
            </a:endParaRPr>
          </a:p>
          <a:p>
            <a:pPr marL="0" indent="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de-DE" altLang="ko-KR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= </a:t>
            </a:r>
            <a:r>
              <a:rPr lang="ko-KR" altLang="en-US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이론적 학문</a:t>
            </a:r>
            <a:endParaRPr lang="en-US" altLang="ko-KR" sz="4000" dirty="0" smtClean="0">
              <a:solidFill>
                <a:schemeClr val="accent2">
                  <a:lumMod val="50000"/>
                </a:schemeClr>
              </a:solidFill>
              <a:ea typeface="굴림" pitchFamily="50" charset="-127"/>
            </a:endParaRPr>
          </a:p>
          <a:p>
            <a:pPr marL="0" indent="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= </a:t>
            </a:r>
            <a:r>
              <a:rPr lang="ko-KR" altLang="en-US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다른 모든 지식들의 기초</a:t>
            </a:r>
            <a:endParaRPr lang="en-US" altLang="ko-KR" sz="4000" dirty="0" smtClean="0">
              <a:solidFill>
                <a:schemeClr val="accent2">
                  <a:lumMod val="50000"/>
                </a:schemeClr>
              </a:solidFill>
              <a:ea typeface="굴림" pitchFamily="50" charset="-127"/>
            </a:endParaRPr>
          </a:p>
          <a:p>
            <a:pPr marL="0" indent="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= </a:t>
            </a:r>
            <a:r>
              <a:rPr lang="ko-KR" altLang="en-US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보편적인 원리 </a:t>
            </a:r>
            <a: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(</a:t>
            </a:r>
            <a:r>
              <a:rPr lang="ko-KR" altLang="en-US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불변 </a:t>
            </a:r>
            <a: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+ </a:t>
            </a:r>
            <a:r>
              <a:rPr lang="ko-KR" altLang="en-US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필연적</a:t>
            </a:r>
            <a: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)</a:t>
            </a:r>
          </a:p>
          <a:p>
            <a:pPr marL="0" indent="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= </a:t>
            </a:r>
            <a:r>
              <a:rPr lang="ko-KR" altLang="en-US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로고스</a:t>
            </a:r>
            <a:endParaRPr lang="en-US" altLang="ko-KR" sz="4000" dirty="0" smtClean="0">
              <a:solidFill>
                <a:schemeClr val="accent2">
                  <a:lumMod val="50000"/>
                </a:schemeClr>
              </a:solidFill>
              <a:ea typeface="굴림" pitchFamily="50" charset="-127"/>
            </a:endParaRPr>
          </a:p>
          <a:p>
            <a:pPr marL="0" indent="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ko-KR" dirty="0" smtClean="0">
              <a:solidFill>
                <a:schemeClr val="accent2">
                  <a:lumMod val="50000"/>
                </a:schemeClr>
              </a:solidFill>
              <a:ea typeface="굴림" pitchFamily="50" charset="-127"/>
            </a:endParaRPr>
          </a:p>
          <a:p>
            <a:pPr marL="0" indent="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ko-KR" altLang="en-US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 </a:t>
            </a:r>
            <a:endParaRPr lang="de-DE" altLang="ko-KR" dirty="0" smtClean="0">
              <a:ea typeface="굴림" pitchFamily="50" charset="-127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765175"/>
            <a:ext cx="8064500" cy="53308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sz="3600" dirty="0" smtClean="0">
                <a:solidFill>
                  <a:srgbClr val="7030A0"/>
                </a:solidFill>
                <a:ea typeface="굴림" pitchFamily="50" charset="-127"/>
              </a:rPr>
              <a:t>&lt; </a:t>
            </a:r>
            <a:r>
              <a:rPr lang="ko-KR" altLang="en-US" sz="3600" dirty="0" smtClean="0">
                <a:solidFill>
                  <a:srgbClr val="7030A0"/>
                </a:solidFill>
                <a:ea typeface="굴림" pitchFamily="50" charset="-127"/>
              </a:rPr>
              <a:t>철학의 개념</a:t>
            </a:r>
            <a:r>
              <a:rPr lang="en-US" altLang="ko-KR" sz="3600" dirty="0" smtClean="0">
                <a:solidFill>
                  <a:srgbClr val="7030A0"/>
                </a:solidFill>
                <a:ea typeface="굴림" pitchFamily="50" charset="-127"/>
              </a:rPr>
              <a:t>: </a:t>
            </a:r>
            <a:r>
              <a:rPr lang="ko-KR" altLang="en-US" sz="3600" dirty="0" smtClean="0">
                <a:solidFill>
                  <a:srgbClr val="7030A0"/>
                </a:solidFill>
                <a:ea typeface="굴림" pitchFamily="50" charset="-127"/>
              </a:rPr>
              <a:t>사전적 정의 </a:t>
            </a:r>
            <a:r>
              <a:rPr lang="en-US" altLang="ko-KR" sz="3600" dirty="0" smtClean="0">
                <a:solidFill>
                  <a:srgbClr val="7030A0"/>
                </a:solidFill>
                <a:ea typeface="굴림" pitchFamily="50" charset="-127"/>
              </a:rPr>
              <a:t>1 &gt;</a:t>
            </a:r>
            <a:br>
              <a:rPr lang="en-US" altLang="ko-KR" sz="3600" dirty="0" smtClean="0">
                <a:solidFill>
                  <a:srgbClr val="7030A0"/>
                </a:solidFill>
                <a:ea typeface="굴림" pitchFamily="50" charset="-127"/>
              </a:rPr>
            </a:br>
            <a:r>
              <a:rPr lang="en-US" altLang="ko-KR" sz="3600" dirty="0" smtClean="0">
                <a:solidFill>
                  <a:schemeClr val="tx1"/>
                </a:solidFill>
                <a:ea typeface="굴림" pitchFamily="50" charset="-127"/>
              </a:rPr>
              <a:t>	</a:t>
            </a:r>
            <a:r>
              <a:rPr lang="en-US" altLang="ko-KR" sz="3600" dirty="0" smtClean="0">
                <a:solidFill>
                  <a:srgbClr val="6E815B"/>
                </a:solidFill>
                <a:ea typeface="굴림" pitchFamily="50" charset="-127"/>
              </a:rPr>
              <a:t/>
            </a:r>
            <a:br>
              <a:rPr lang="en-US" altLang="ko-KR" sz="3600" dirty="0" smtClean="0">
                <a:solidFill>
                  <a:srgbClr val="6E815B"/>
                </a:solidFill>
                <a:ea typeface="굴림" pitchFamily="50" charset="-127"/>
              </a:rPr>
            </a:br>
            <a: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- </a:t>
            </a:r>
            <a:r>
              <a:rPr lang="ko-KR" altLang="en-US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인간과 </a:t>
            </a:r>
            <a:r>
              <a:rPr lang="ko-KR" altLang="en-US" sz="4000" dirty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세계에 대한 근본 원리와 삶의 본질 따위를 연구하는 </a:t>
            </a:r>
            <a:r>
              <a:rPr lang="ko-KR" altLang="en-US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학문 </a:t>
            </a:r>
            <a: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/>
            </a:r>
            <a:b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</a:br>
            <a: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/>
            </a:r>
            <a:b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</a:br>
            <a: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- </a:t>
            </a:r>
            <a:r>
              <a:rPr lang="ko-KR" altLang="en-US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세계와 </a:t>
            </a:r>
            <a:r>
              <a:rPr lang="ko-KR" altLang="en-US" sz="4000" dirty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인간의 삶에 대한 근본 원리 즉 인간의 본질</a:t>
            </a:r>
            <a:r>
              <a:rPr lang="en-US" altLang="ko-KR" sz="4000" dirty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, </a:t>
            </a:r>
            <a:r>
              <a:rPr lang="ko-KR" altLang="en-US" sz="4000" dirty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세계관 등을 탐구하는 학문</a:t>
            </a:r>
            <a:endParaRPr lang="en-US" altLang="ko-KR" sz="3600" dirty="0" smtClean="0">
              <a:solidFill>
                <a:srgbClr val="6E815B"/>
              </a:solidFill>
              <a:ea typeface="굴림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836613"/>
            <a:ext cx="8064500" cy="53308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sz="3600" dirty="0" smtClean="0">
                <a:solidFill>
                  <a:srgbClr val="7030A0"/>
                </a:solidFill>
                <a:ea typeface="굴림" pitchFamily="50" charset="-127"/>
              </a:rPr>
              <a:t>&lt; </a:t>
            </a:r>
            <a:r>
              <a:rPr lang="ko-KR" altLang="en-US" sz="3600" dirty="0" smtClean="0">
                <a:solidFill>
                  <a:srgbClr val="7030A0"/>
                </a:solidFill>
                <a:ea typeface="굴림" pitchFamily="50" charset="-127"/>
              </a:rPr>
              <a:t>철학의 개념</a:t>
            </a:r>
            <a:r>
              <a:rPr lang="en-US" altLang="ko-KR" sz="3600" dirty="0" smtClean="0">
                <a:solidFill>
                  <a:srgbClr val="7030A0"/>
                </a:solidFill>
                <a:ea typeface="굴림" pitchFamily="50" charset="-127"/>
              </a:rPr>
              <a:t>: </a:t>
            </a:r>
            <a:r>
              <a:rPr lang="ko-KR" altLang="en-US" sz="3600" dirty="0" smtClean="0">
                <a:solidFill>
                  <a:srgbClr val="7030A0"/>
                </a:solidFill>
                <a:ea typeface="굴림" pitchFamily="50" charset="-127"/>
              </a:rPr>
              <a:t>사전적 정의 </a:t>
            </a:r>
            <a:r>
              <a:rPr lang="en-US" altLang="ko-KR" sz="3600" dirty="0" smtClean="0">
                <a:solidFill>
                  <a:srgbClr val="7030A0"/>
                </a:solidFill>
                <a:ea typeface="굴림" pitchFamily="50" charset="-127"/>
              </a:rPr>
              <a:t>2 &gt;</a:t>
            </a:r>
            <a:br>
              <a:rPr lang="en-US" altLang="ko-KR" sz="3600" dirty="0" smtClean="0">
                <a:solidFill>
                  <a:srgbClr val="7030A0"/>
                </a:solidFill>
                <a:ea typeface="굴림" pitchFamily="50" charset="-127"/>
              </a:rPr>
            </a:br>
            <a:r>
              <a:rPr lang="en-US" altLang="ko-KR" sz="3600" dirty="0" smtClean="0">
                <a:solidFill>
                  <a:schemeClr val="tx1"/>
                </a:solidFill>
                <a:ea typeface="굴림" pitchFamily="50" charset="-127"/>
              </a:rPr>
              <a:t>	</a:t>
            </a:r>
            <a:r>
              <a:rPr lang="en-US" altLang="ko-KR" sz="3600" dirty="0" smtClean="0">
                <a:solidFill>
                  <a:srgbClr val="6E815B"/>
                </a:solidFill>
                <a:ea typeface="굴림" pitchFamily="50" charset="-127"/>
              </a:rPr>
              <a:t/>
            </a:r>
            <a:br>
              <a:rPr lang="en-US" altLang="ko-KR" sz="3600" dirty="0" smtClean="0">
                <a:solidFill>
                  <a:srgbClr val="6E815B"/>
                </a:solidFill>
                <a:ea typeface="굴림" pitchFamily="50" charset="-127"/>
              </a:rPr>
            </a:br>
            <a: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- </a:t>
            </a:r>
            <a:r>
              <a:rPr lang="ko-KR" altLang="en-US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자연과 인간 사회 문화 제 영역의 최고 원리와 통일 원리를 반성적으로 탐구하는 지적 활동 </a:t>
            </a:r>
            <a: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/>
            </a:r>
            <a:b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</a:br>
            <a:r>
              <a:rPr lang="ko-KR" altLang="en-US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또는 그 결실</a:t>
            </a:r>
            <a: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/>
            </a:r>
            <a:b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</a:br>
            <a:endParaRPr lang="en-US" altLang="ko-KR" sz="3600" dirty="0" smtClean="0">
              <a:solidFill>
                <a:srgbClr val="6E815B"/>
              </a:solidFill>
              <a:ea typeface="굴림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549275"/>
            <a:ext cx="8351837" cy="5576888"/>
          </a:xfrm>
        </p:spPr>
        <p:txBody>
          <a:bodyPr/>
          <a:lstStyle/>
          <a:p>
            <a:pPr marL="0" indent="0" algn="just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400" dirty="0" smtClean="0">
                <a:solidFill>
                  <a:srgbClr val="7030A0"/>
                </a:solidFill>
                <a:ea typeface="굴림" charset="-127"/>
              </a:rPr>
              <a:t>&lt; </a:t>
            </a:r>
            <a:r>
              <a:rPr lang="ko-KR" altLang="en-US" sz="4400" dirty="0" smtClean="0">
                <a:solidFill>
                  <a:srgbClr val="7030A0"/>
                </a:solidFill>
                <a:ea typeface="굴림" charset="-127"/>
              </a:rPr>
              <a:t>철학개념의 변천 </a:t>
            </a:r>
            <a:r>
              <a:rPr lang="en-US" altLang="ko-KR" sz="4400" dirty="0" smtClean="0">
                <a:solidFill>
                  <a:srgbClr val="7030A0"/>
                </a:solidFill>
                <a:ea typeface="굴림" charset="-127"/>
              </a:rPr>
              <a:t>&gt;</a:t>
            </a:r>
          </a:p>
          <a:p>
            <a:pPr marL="0" indent="0" algn="just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ko-KR" sz="4400" dirty="0" smtClean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  <a:p>
            <a:pPr marL="0" indent="0" algn="just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- </a:t>
            </a:r>
            <a:r>
              <a:rPr lang="ko-KR" altLang="en-US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지식의 총체개념이었던 </a:t>
            </a:r>
            <a:r>
              <a:rPr lang="en-US" altLang="ko-KR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(</a:t>
            </a:r>
            <a:r>
              <a:rPr lang="ko-KR" altLang="en-US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철</a:t>
            </a:r>
            <a:r>
              <a:rPr lang="en-US" altLang="ko-KR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)</a:t>
            </a:r>
            <a:r>
              <a:rPr lang="ko-KR" altLang="en-US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학 은 근대 자연과학의 발전으로 인한 </a:t>
            </a:r>
            <a:r>
              <a:rPr lang="ko-KR" altLang="en-US" sz="42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전문지식의 발생과 독립으로 인해 분과되었다</a:t>
            </a:r>
            <a:r>
              <a:rPr lang="en-US" altLang="ko-KR" sz="42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.</a:t>
            </a:r>
          </a:p>
          <a:p>
            <a:pPr marL="0" indent="0" algn="just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2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	</a:t>
            </a:r>
            <a:r>
              <a:rPr lang="en-US" altLang="ko-KR" sz="4200" dirty="0" err="1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philosophia</a:t>
            </a:r>
            <a:r>
              <a:rPr lang="en-US" altLang="ko-KR" sz="42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 </a:t>
            </a:r>
          </a:p>
          <a:p>
            <a:pPr marL="0" indent="0" algn="just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200" dirty="0">
                <a:solidFill>
                  <a:schemeClr val="accent2">
                    <a:lumMod val="50000"/>
                  </a:schemeClr>
                </a:solidFill>
                <a:ea typeface="굴림" charset="-127"/>
                <a:sym typeface="Wingdings" panose="05000000000000000000" pitchFamily="2" charset="2"/>
              </a:rPr>
              <a:t>	</a:t>
            </a:r>
            <a:r>
              <a:rPr lang="en-US" altLang="ko-KR" sz="42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  <a:sym typeface="Wingdings" panose="05000000000000000000" pitchFamily="2" charset="2"/>
              </a:rPr>
              <a:t>		 </a:t>
            </a:r>
            <a:r>
              <a:rPr lang="en-US" altLang="ko-KR" sz="4200" dirty="0" err="1" smtClean="0">
                <a:solidFill>
                  <a:schemeClr val="accent2">
                    <a:lumMod val="50000"/>
                  </a:schemeClr>
                </a:solidFill>
                <a:ea typeface="굴림" charset="-127"/>
                <a:sym typeface="Wingdings" panose="05000000000000000000" pitchFamily="2" charset="2"/>
              </a:rPr>
              <a:t>s</a:t>
            </a:r>
            <a:r>
              <a:rPr lang="en-US" altLang="ko-KR" sz="4200" dirty="0" err="1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cientia</a:t>
            </a:r>
            <a:r>
              <a:rPr lang="ko-KR" altLang="en-US" sz="42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 </a:t>
            </a:r>
            <a:endParaRPr lang="en-US" altLang="ko-KR" sz="4400" dirty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549275"/>
            <a:ext cx="8064500" cy="5832475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2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- </a:t>
            </a:r>
            <a:r>
              <a:rPr lang="ko-KR" altLang="en-US" sz="42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철학의 </a:t>
            </a:r>
            <a:r>
              <a:rPr lang="ko-KR" altLang="en-US" sz="4200" dirty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통속적 개념과 강단 </a:t>
            </a:r>
            <a:r>
              <a:rPr lang="en-US" altLang="ko-KR" sz="4200" dirty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(</a:t>
            </a:r>
            <a:r>
              <a:rPr lang="ko-KR" altLang="en-US" sz="4200" dirty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학교</a:t>
            </a:r>
            <a:r>
              <a:rPr lang="en-US" altLang="ko-KR" sz="4200" dirty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)</a:t>
            </a:r>
            <a:r>
              <a:rPr lang="ko-KR" altLang="en-US" sz="4200" dirty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 </a:t>
            </a:r>
            <a:r>
              <a:rPr lang="ko-KR" altLang="en-US" sz="42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개념</a:t>
            </a:r>
            <a:r>
              <a:rPr lang="en-US" altLang="ko-KR" sz="42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: </a:t>
            </a:r>
            <a:r>
              <a:rPr lang="ko-KR" altLang="en-US" sz="42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이전의 철학에 </a:t>
            </a:r>
            <a:r>
              <a:rPr lang="ko-KR" altLang="en-US" sz="4200" dirty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대한 </a:t>
            </a:r>
            <a:r>
              <a:rPr lang="ko-KR" altLang="en-US" sz="42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광범위하고 일반적인 통속적 개념과 다른 전문적이고 특수한 개념이 근대 이후 대학</a:t>
            </a:r>
            <a:r>
              <a:rPr lang="en-US" altLang="ko-KR" sz="42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 </a:t>
            </a:r>
            <a:r>
              <a:rPr lang="ko-KR" altLang="en-US" sz="42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강단에서 형성되기 시작했다</a:t>
            </a:r>
            <a:r>
              <a:rPr lang="en-US" altLang="ko-KR" sz="42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549275"/>
            <a:ext cx="8229600" cy="5688013"/>
          </a:xfrm>
        </p:spPr>
        <p:txBody>
          <a:bodyPr/>
          <a:lstStyle/>
          <a:p>
            <a:pPr marL="0" indent="0" algn="just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ko-KR" dirty="0" smtClean="0">
              <a:ea typeface="굴림" pitchFamily="50" charset="-127"/>
            </a:endParaRPr>
          </a:p>
          <a:p>
            <a:pPr marL="0" indent="0" algn="just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ko-KR" dirty="0" smtClean="0">
              <a:ea typeface="굴림" pitchFamily="50" charset="-127"/>
            </a:endParaRPr>
          </a:p>
          <a:p>
            <a:pPr marL="0" indent="0" algn="just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ko-KR" altLang="en-US" sz="4000" dirty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근대 자연과학의 </a:t>
            </a:r>
            <a:endParaRPr lang="en-US" altLang="ko-KR" sz="4000" dirty="0">
              <a:solidFill>
                <a:schemeClr val="accent2">
                  <a:lumMod val="50000"/>
                </a:schemeClr>
              </a:solidFill>
              <a:ea typeface="굴림" pitchFamily="50" charset="-127"/>
            </a:endParaRPr>
          </a:p>
          <a:p>
            <a:pPr marL="0" indent="0" algn="just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ko-KR" altLang="en-US" sz="4000" dirty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발전과 학문의 </a:t>
            </a:r>
            <a:endParaRPr lang="en-US" altLang="ko-KR" sz="4000" dirty="0" smtClean="0">
              <a:solidFill>
                <a:schemeClr val="accent2">
                  <a:lumMod val="50000"/>
                </a:schemeClr>
              </a:solidFill>
              <a:ea typeface="굴림" pitchFamily="50" charset="-127"/>
            </a:endParaRPr>
          </a:p>
          <a:p>
            <a:pPr marL="0" indent="0" algn="just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ko-KR" altLang="en-US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전문화</a:t>
            </a:r>
            <a:endParaRPr lang="de-DE" altLang="ko-KR" sz="4000" dirty="0">
              <a:solidFill>
                <a:schemeClr val="accent2">
                  <a:lumMod val="50000"/>
                </a:schemeClr>
              </a:solidFill>
              <a:ea typeface="굴림" pitchFamily="50" charset="-127"/>
            </a:endParaRPr>
          </a:p>
          <a:p>
            <a:pPr marL="0" indent="0" algn="just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ko-KR" sz="4000" dirty="0" smtClean="0">
              <a:solidFill>
                <a:schemeClr val="accent2">
                  <a:lumMod val="50000"/>
                </a:schemeClr>
              </a:solidFill>
              <a:ea typeface="굴림" pitchFamily="50" charset="-127"/>
            </a:endParaRPr>
          </a:p>
          <a:p>
            <a:pPr marL="0" indent="0" algn="just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ko-KR" sz="4000" dirty="0">
              <a:solidFill>
                <a:schemeClr val="accent2">
                  <a:lumMod val="50000"/>
                </a:schemeClr>
              </a:solidFill>
              <a:ea typeface="굴림" pitchFamily="50" charset="-127"/>
            </a:endParaRPr>
          </a:p>
          <a:p>
            <a:pPr marL="0" indent="0" algn="just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ko-KR" altLang="en-US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제 학문들의 독립</a:t>
            </a:r>
            <a:endParaRPr lang="en-US" altLang="ko-KR" sz="4000" dirty="0" smtClean="0">
              <a:solidFill>
                <a:schemeClr val="accent2">
                  <a:lumMod val="50000"/>
                </a:schemeClr>
              </a:solidFill>
              <a:ea typeface="굴림" pitchFamily="50" charset="-127"/>
            </a:endParaRPr>
          </a:p>
          <a:p>
            <a:pPr marL="0" indent="0" algn="just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ko-KR" altLang="en-US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   </a:t>
            </a:r>
            <a: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: </a:t>
            </a:r>
            <a:r>
              <a:rPr lang="ko-KR" altLang="en-US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분과 학문</a:t>
            </a:r>
            <a:endParaRPr lang="en-US" altLang="ko-KR" sz="4000" dirty="0" smtClean="0">
              <a:solidFill>
                <a:schemeClr val="accent2">
                  <a:lumMod val="50000"/>
                </a:schemeClr>
              </a:solidFill>
              <a:ea typeface="굴림" pitchFamily="50" charset="-127"/>
            </a:endParaRPr>
          </a:p>
          <a:p>
            <a:pPr marL="0" indent="0" algn="just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de-DE" altLang="ko-KR" sz="3200" dirty="0" smtClean="0">
              <a:solidFill>
                <a:schemeClr val="accent2">
                  <a:lumMod val="50000"/>
                </a:schemeClr>
              </a:solidFill>
              <a:ea typeface="굴림" pitchFamily="50" charset="-127"/>
            </a:endParaRPr>
          </a:p>
          <a:p>
            <a:pPr marL="0" indent="0" algn="just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de-DE" altLang="ko-KR" sz="3200" dirty="0" smtClean="0">
              <a:solidFill>
                <a:schemeClr val="accent2">
                  <a:lumMod val="50000"/>
                </a:schemeClr>
              </a:solidFill>
              <a:ea typeface="굴림" pitchFamily="50" charset="-127"/>
            </a:endParaRPr>
          </a:p>
        </p:txBody>
      </p:sp>
      <p:pic>
        <p:nvPicPr>
          <p:cNvPr id="30723" name="그림 2" descr="411px-Arbor-scientia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800" y="549275"/>
            <a:ext cx="3914775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/>
          <p:cNvSpPr>
            <a:spLocks noGrp="1" noChangeArrowheads="1"/>
          </p:cNvSpPr>
          <p:nvPr>
            <p:ph idx="1"/>
          </p:nvPr>
        </p:nvSpPr>
        <p:spPr>
          <a:xfrm>
            <a:off x="827088" y="620713"/>
            <a:ext cx="7788275" cy="5434012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de-DE" altLang="ko-KR" sz="4000" dirty="0" smtClean="0">
                <a:solidFill>
                  <a:srgbClr val="7030A0"/>
                </a:solidFill>
                <a:ea typeface="굴림" pitchFamily="50" charset="-127"/>
              </a:rPr>
              <a:t>&lt; </a:t>
            </a:r>
            <a:r>
              <a:rPr lang="ko-KR" altLang="en-US" sz="4000" dirty="0" err="1" smtClean="0">
                <a:solidFill>
                  <a:srgbClr val="7030A0"/>
                </a:solidFill>
                <a:ea typeface="굴림" pitchFamily="50" charset="-127"/>
              </a:rPr>
              <a:t>근본학으로서의</a:t>
            </a:r>
            <a:r>
              <a:rPr lang="ko-KR" altLang="en-US" sz="4000" dirty="0" smtClean="0">
                <a:solidFill>
                  <a:srgbClr val="7030A0"/>
                </a:solidFill>
                <a:ea typeface="굴림" pitchFamily="50" charset="-127"/>
              </a:rPr>
              <a:t> 철학 </a:t>
            </a:r>
            <a:r>
              <a:rPr lang="en-US" altLang="ko-KR" sz="4000" dirty="0" smtClean="0">
                <a:solidFill>
                  <a:srgbClr val="7030A0"/>
                </a:solidFill>
                <a:ea typeface="굴림" pitchFamily="50" charset="-127"/>
              </a:rPr>
              <a:t>&gt;</a:t>
            </a:r>
          </a:p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ko-KR" dirty="0" smtClean="0">
              <a:solidFill>
                <a:schemeClr val="accent2">
                  <a:lumMod val="50000"/>
                </a:schemeClr>
              </a:solidFill>
              <a:ea typeface="굴림" pitchFamily="50" charset="-127"/>
            </a:endParaRPr>
          </a:p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- </a:t>
            </a:r>
            <a:r>
              <a:rPr lang="ko-KR" altLang="en-US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철학의 전문화와 새로운 자기규정</a:t>
            </a:r>
            <a: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: </a:t>
            </a:r>
            <a:r>
              <a:rPr lang="ko-KR" altLang="en-US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다른 학문들의 기초가 되는 근본적 원리</a:t>
            </a:r>
            <a: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(</a:t>
            </a:r>
            <a:r>
              <a:rPr lang="ko-KR" altLang="en-US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이성</a:t>
            </a:r>
            <a: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, </a:t>
            </a:r>
            <a:r>
              <a:rPr lang="ko-KR" altLang="en-US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인식 등</a:t>
            </a:r>
            <a: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)</a:t>
            </a:r>
            <a:r>
              <a:rPr lang="ko-KR" altLang="en-US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을 집중적으로 다루는 학문이고자 한다</a:t>
            </a:r>
            <a: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pitchFamily="50" charset="-127"/>
              </a:rPr>
              <a:t>.</a:t>
            </a:r>
            <a:endParaRPr lang="en-US" altLang="ko-KR" sz="4000" dirty="0" smtClean="0">
              <a:solidFill>
                <a:schemeClr val="accent6">
                  <a:lumMod val="50000"/>
                </a:schemeClr>
              </a:solidFill>
              <a:ea typeface="굴림" pitchFamily="50" charset="-127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836613"/>
            <a:ext cx="8351837" cy="5329237"/>
          </a:xfrm>
        </p:spPr>
        <p:txBody>
          <a:bodyPr/>
          <a:lstStyle/>
          <a:p>
            <a:pPr marL="0" indent="0" algn="just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800" dirty="0" smtClean="0">
                <a:solidFill>
                  <a:srgbClr val="7030A0"/>
                </a:solidFill>
                <a:ea typeface="굴림" charset="-127"/>
              </a:rPr>
              <a:t>&lt; </a:t>
            </a:r>
            <a:r>
              <a:rPr lang="ko-KR" altLang="en-US" sz="4800" dirty="0" smtClean="0">
                <a:solidFill>
                  <a:srgbClr val="7030A0"/>
                </a:solidFill>
                <a:ea typeface="굴림" charset="-127"/>
              </a:rPr>
              <a:t>철학적 지식과 </a:t>
            </a:r>
            <a:r>
              <a:rPr lang="en-US" altLang="ko-KR" sz="4800" dirty="0" smtClean="0">
                <a:solidFill>
                  <a:srgbClr val="7030A0"/>
                </a:solidFill>
                <a:ea typeface="굴림" charset="-127"/>
              </a:rPr>
              <a:t>(</a:t>
            </a:r>
            <a:r>
              <a:rPr lang="ko-KR" altLang="en-US" sz="4800" dirty="0" smtClean="0">
                <a:solidFill>
                  <a:srgbClr val="7030A0"/>
                </a:solidFill>
                <a:ea typeface="굴림" charset="-127"/>
              </a:rPr>
              <a:t>분</a:t>
            </a:r>
            <a:r>
              <a:rPr lang="en-US" altLang="ko-KR" sz="4800" dirty="0" smtClean="0">
                <a:solidFill>
                  <a:srgbClr val="7030A0"/>
                </a:solidFill>
                <a:ea typeface="굴림" charset="-127"/>
              </a:rPr>
              <a:t>)</a:t>
            </a:r>
            <a:r>
              <a:rPr lang="ko-KR" altLang="en-US" sz="4800" dirty="0" smtClean="0">
                <a:solidFill>
                  <a:srgbClr val="7030A0"/>
                </a:solidFill>
                <a:ea typeface="굴림" charset="-127"/>
              </a:rPr>
              <a:t>과학적 지식 </a:t>
            </a:r>
            <a:r>
              <a:rPr lang="en-US" altLang="ko-KR" sz="4800" dirty="0" smtClean="0">
                <a:solidFill>
                  <a:srgbClr val="7030A0"/>
                </a:solidFill>
                <a:ea typeface="굴림" charset="-127"/>
              </a:rPr>
              <a:t>&gt;</a:t>
            </a:r>
          </a:p>
          <a:p>
            <a:pPr marL="0" indent="0" algn="just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ko-KR" sz="4400" dirty="0" smtClean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  <a:p>
            <a:pPr marL="0" indent="0" algn="just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- </a:t>
            </a:r>
            <a:r>
              <a:rPr lang="ko-KR" altLang="en-US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철학과 과학의 차이</a:t>
            </a:r>
            <a:endParaRPr lang="en-US" altLang="ko-KR" sz="4800" dirty="0" smtClean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  <a:p>
            <a:pPr marL="0" indent="0" algn="just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ko-KR" sz="4800" dirty="0" smtClean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  <a:p>
            <a:pPr marL="0" indent="0" algn="just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1. </a:t>
            </a:r>
            <a:r>
              <a:rPr lang="ko-KR" altLang="en-US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철학은 존재를 전체로서 다룬다</a:t>
            </a:r>
            <a:r>
              <a:rPr lang="en-US" altLang="ko-KR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052513"/>
            <a:ext cx="8351837" cy="4713287"/>
          </a:xfrm>
        </p:spPr>
        <p:txBody>
          <a:bodyPr/>
          <a:lstStyle/>
          <a:p>
            <a:pPr marL="0" indent="0" algn="just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2. </a:t>
            </a:r>
            <a:r>
              <a:rPr lang="ko-KR" altLang="en-US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철학은 주체를 주체적으로 파악한다</a:t>
            </a:r>
            <a:r>
              <a:rPr lang="en-US" altLang="ko-KR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.</a:t>
            </a:r>
          </a:p>
          <a:p>
            <a:pPr marL="0" indent="0" algn="just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ko-KR" sz="4800" dirty="0" smtClean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  <a:p>
            <a:pPr marL="0" indent="0" algn="just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3. </a:t>
            </a:r>
            <a:r>
              <a:rPr lang="ko-KR" altLang="en-US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철학은 여러 과학의 기초를 비판한다</a:t>
            </a:r>
            <a:r>
              <a:rPr lang="en-US" altLang="ko-KR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.</a:t>
            </a:r>
            <a:endParaRPr lang="en-US" altLang="ko-KR" sz="4400" dirty="0" smtClean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908050"/>
            <a:ext cx="8064500" cy="4786313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5400" dirty="0" smtClean="0">
                <a:solidFill>
                  <a:srgbClr val="7030A0"/>
                </a:solidFill>
                <a:ea typeface="굴림" charset="-127"/>
              </a:rPr>
              <a:t>&lt; </a:t>
            </a:r>
            <a:r>
              <a:rPr lang="ko-KR" altLang="en-US" sz="5400" dirty="0" smtClean="0">
                <a:solidFill>
                  <a:srgbClr val="7030A0"/>
                </a:solidFill>
                <a:ea typeface="굴림" charset="-127"/>
              </a:rPr>
              <a:t>철학하는 태도 </a:t>
            </a:r>
            <a:r>
              <a:rPr lang="en-US" altLang="ko-KR" sz="5400" dirty="0" smtClean="0">
                <a:solidFill>
                  <a:srgbClr val="7030A0"/>
                </a:solidFill>
                <a:ea typeface="굴림" charset="-127"/>
              </a:rPr>
              <a:t>&gt;</a:t>
            </a:r>
          </a:p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5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- </a:t>
            </a:r>
            <a:r>
              <a:rPr lang="ko-KR" altLang="en-US" sz="5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당연한 일에 대해 의심하고 묻는 것</a:t>
            </a:r>
            <a:endParaRPr lang="en-US" altLang="ko-KR" sz="5400" dirty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692150"/>
            <a:ext cx="8496300" cy="5545138"/>
          </a:xfrm>
        </p:spPr>
        <p:txBody>
          <a:bodyPr/>
          <a:lstStyle/>
          <a:p>
            <a:pPr marL="514350" indent="-51435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ko-KR" altLang="en-US" sz="4400" dirty="0" smtClean="0">
                <a:solidFill>
                  <a:srgbClr val="002060"/>
                </a:solidFill>
                <a:ea typeface="굴림" charset="-127"/>
              </a:rPr>
              <a:t>왜 의심하는가</a:t>
            </a:r>
            <a:r>
              <a:rPr lang="en-US" altLang="ko-KR" sz="4400" dirty="0" smtClean="0">
                <a:solidFill>
                  <a:srgbClr val="002060"/>
                </a:solidFill>
                <a:ea typeface="굴림" charset="-127"/>
              </a:rPr>
              <a:t>?</a:t>
            </a:r>
          </a:p>
          <a:p>
            <a:pPr marL="514350" indent="-51435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		</a:t>
            </a:r>
            <a:r>
              <a:rPr lang="ko-KR" altLang="en-US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생</a:t>
            </a:r>
            <a:r>
              <a:rPr lang="en-US" altLang="ko-KR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(</a:t>
            </a:r>
            <a:r>
              <a:rPr lang="ko-KR" altLang="en-US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명</a:t>
            </a:r>
            <a:r>
              <a:rPr lang="en-US" altLang="ko-KR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)</a:t>
            </a:r>
            <a:r>
              <a:rPr lang="ko-KR" altLang="en-US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 이상의 것에 대한 추구</a:t>
            </a:r>
            <a:endParaRPr lang="en-US" altLang="ko-KR" sz="4400" dirty="0" smtClean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  <a:p>
            <a:pPr marL="514350" indent="-51435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			</a:t>
            </a:r>
            <a:r>
              <a:rPr lang="ko-KR" altLang="en-US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본능과 이성</a:t>
            </a:r>
            <a:endParaRPr lang="en-US" altLang="ko-KR" sz="4400" dirty="0" smtClean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  <a:p>
            <a:pPr marL="514350" indent="-51435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400" dirty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	</a:t>
            </a:r>
            <a:r>
              <a:rPr lang="en-US" altLang="ko-KR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		</a:t>
            </a:r>
            <a:r>
              <a:rPr lang="ko-KR" altLang="en-US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파토스와 로고스</a:t>
            </a:r>
            <a:endParaRPr lang="en-US" altLang="ko-KR" sz="4400" dirty="0" smtClean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  <a:p>
            <a:pPr marL="514350" indent="-51435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400" dirty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	</a:t>
            </a:r>
            <a:r>
              <a:rPr lang="en-US" altLang="ko-KR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		</a:t>
            </a:r>
            <a:r>
              <a:rPr lang="ko-KR" altLang="en-US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양적 추구와 질적 추구</a:t>
            </a:r>
            <a:endParaRPr lang="en-US" altLang="ko-KR" sz="4400" dirty="0" smtClean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 noChangeArrowheads="1"/>
          </p:cNvSpPr>
          <p:nvPr>
            <p:ph type="body" idx="1"/>
          </p:nvPr>
        </p:nvSpPr>
        <p:spPr bwMode="black">
          <a:xfrm>
            <a:off x="755650" y="549275"/>
            <a:ext cx="7920038" cy="5688013"/>
          </a:xfrm>
        </p:spPr>
        <p:txBody>
          <a:bodyPr/>
          <a:lstStyle/>
          <a:p>
            <a:pPr marL="0" lvl="1" indent="0" algn="just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30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“</a:t>
            </a:r>
            <a:r>
              <a:rPr lang="ko-KR" altLang="en-US" sz="30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인간은 하나의 갈대에 지나지 않는다</a:t>
            </a:r>
            <a:r>
              <a:rPr lang="en-US" altLang="ko-KR" sz="30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. </a:t>
            </a:r>
            <a:r>
              <a:rPr lang="ko-KR" altLang="en-US" sz="30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자연 중에서 가장 약한 갈대이다</a:t>
            </a:r>
            <a:r>
              <a:rPr lang="en-US" altLang="ko-KR" sz="30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. </a:t>
            </a:r>
            <a:r>
              <a:rPr lang="ko-KR" altLang="en-US" sz="30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그러나 인간은 생각하는 갈대이다</a:t>
            </a:r>
            <a:r>
              <a:rPr lang="en-US" altLang="ko-KR" sz="30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. </a:t>
            </a:r>
            <a:r>
              <a:rPr lang="ko-KR" altLang="en-US" sz="30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그를 부수기 위해서는 온 우주가 무장하지 않아도 된다</a:t>
            </a:r>
            <a:r>
              <a:rPr lang="en-US" altLang="ko-KR" sz="30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. </a:t>
            </a:r>
            <a:r>
              <a:rPr lang="ko-KR" altLang="en-US" sz="30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한 줄기 증기</a:t>
            </a:r>
            <a:r>
              <a:rPr lang="en-US" altLang="ko-KR" sz="30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, </a:t>
            </a:r>
            <a:r>
              <a:rPr lang="ko-KR" altLang="en-US" sz="30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한 방울의 물을 가지고도 그를 충분히 죽일 수 있다</a:t>
            </a:r>
            <a:r>
              <a:rPr lang="en-US" altLang="ko-KR" sz="30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. </a:t>
            </a:r>
            <a:r>
              <a:rPr lang="ko-KR" altLang="en-US" sz="30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그러나 우주가 쉽게 그를 부술 수 있다고 해도 인간은 자기를 죽이는 자보다 존귀할 것이다</a:t>
            </a:r>
            <a:r>
              <a:rPr lang="en-US" altLang="ko-KR" sz="30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.  </a:t>
            </a:r>
            <a:r>
              <a:rPr lang="ko-KR" altLang="en-US" sz="30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인간은 자기가 반드시 죽어야 한다는 사실과 우주가 자기보다 힘이 세다는 사실을 알고 있지만 우주는 그것을 전혀 모르고 있는 것이다</a:t>
            </a:r>
            <a:r>
              <a:rPr lang="en-US" altLang="ko-KR" sz="30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. </a:t>
            </a:r>
            <a:r>
              <a:rPr lang="ko-KR" altLang="en-US" sz="30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그러므로 우리의 모든 존엄성은 사고에 있다</a:t>
            </a:r>
            <a:r>
              <a:rPr lang="en-US" altLang="ko-KR" sz="30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.” </a:t>
            </a:r>
            <a:r>
              <a:rPr lang="en-US" altLang="ko-KR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				- </a:t>
            </a:r>
            <a:r>
              <a:rPr lang="ko-KR" altLang="en-US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파스칼</a:t>
            </a:r>
            <a:r>
              <a:rPr lang="en-US" altLang="ko-KR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, 『</a:t>
            </a:r>
            <a:r>
              <a:rPr lang="ko-KR" altLang="en-US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팡세</a:t>
            </a:r>
            <a:r>
              <a:rPr lang="en-US" altLang="ko-KR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』, 347</a:t>
            </a:r>
          </a:p>
          <a:p>
            <a:pPr marL="0" lvl="1" indent="0" algn="just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ko-KR" altLang="en-US" sz="3200" b="1" dirty="0" smtClean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  <a:p>
            <a:pPr marL="0" lvl="1" indent="0" algn="just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ko-KR" b="1" dirty="0" smtClean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836613"/>
            <a:ext cx="8567737" cy="4713287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ko-KR" altLang="en-US" sz="5400" dirty="0" smtClean="0">
                <a:solidFill>
                  <a:schemeClr val="accent4">
                    <a:lumMod val="90000"/>
                    <a:lumOff val="10000"/>
                  </a:schemeClr>
                </a:solidFill>
                <a:ea typeface="굴림" charset="-127"/>
              </a:rPr>
              <a:t>이성이란 무엇인가</a:t>
            </a:r>
            <a:r>
              <a:rPr lang="en-US" altLang="ko-KR" sz="5400" dirty="0" smtClean="0">
                <a:solidFill>
                  <a:schemeClr val="accent4">
                    <a:lumMod val="90000"/>
                    <a:lumOff val="10000"/>
                  </a:schemeClr>
                </a:solidFill>
                <a:ea typeface="굴림" charset="-127"/>
              </a:rPr>
              <a:t>?</a:t>
            </a:r>
          </a:p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	</a:t>
            </a:r>
            <a:r>
              <a:rPr lang="en-US" altLang="ko-KR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  <a:sym typeface="Wingdings" panose="05000000000000000000" pitchFamily="2" charset="2"/>
              </a:rPr>
              <a:t> 	 </a:t>
            </a:r>
            <a:r>
              <a:rPr lang="ko-KR" altLang="en-US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  <a:sym typeface="Wingdings" panose="05000000000000000000" pitchFamily="2" charset="2"/>
              </a:rPr>
              <a:t>본능</a:t>
            </a:r>
            <a:r>
              <a:rPr lang="en-US" altLang="ko-KR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  <a:sym typeface="Wingdings" panose="05000000000000000000" pitchFamily="2" charset="2"/>
              </a:rPr>
              <a:t>. </a:t>
            </a:r>
            <a:r>
              <a:rPr lang="ko-KR" altLang="en-US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  <a:sym typeface="Wingdings" panose="05000000000000000000" pitchFamily="2" charset="2"/>
              </a:rPr>
              <a:t>충동</a:t>
            </a:r>
            <a:r>
              <a:rPr lang="en-US" altLang="ko-KR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  <a:sym typeface="Wingdings" panose="05000000000000000000" pitchFamily="2" charset="2"/>
              </a:rPr>
              <a:t>.</a:t>
            </a:r>
            <a:r>
              <a:rPr lang="en-US" altLang="ko-KR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 </a:t>
            </a:r>
            <a:r>
              <a:rPr lang="ko-KR" altLang="en-US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감정</a:t>
            </a:r>
            <a:r>
              <a:rPr lang="en-US" altLang="ko-KR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.</a:t>
            </a:r>
          </a:p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800" dirty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	</a:t>
            </a:r>
            <a:r>
              <a:rPr lang="en-US" altLang="ko-KR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	 </a:t>
            </a:r>
            <a:r>
              <a:rPr lang="ko-KR" altLang="en-US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신화</a:t>
            </a:r>
            <a:r>
              <a:rPr lang="en-US" altLang="ko-KR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 (Mythos)</a:t>
            </a:r>
          </a:p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		</a:t>
            </a:r>
            <a:r>
              <a:rPr lang="ko-KR" altLang="en-US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감각적 지식 </a:t>
            </a:r>
            <a: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(</a:t>
            </a:r>
            <a:r>
              <a:rPr lang="en-US" altLang="ko-KR" sz="4000" dirty="0" err="1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Aisthesis</a:t>
            </a:r>
            <a: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)</a:t>
            </a:r>
            <a:endParaRPr lang="en-US" altLang="ko-KR" sz="4000" dirty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</p:txBody>
      </p:sp>
      <p:cxnSp>
        <p:nvCxnSpPr>
          <p:cNvPr id="6" name="직선 화살표 연결선 5"/>
          <p:cNvCxnSpPr/>
          <p:nvPr/>
        </p:nvCxnSpPr>
        <p:spPr bwMode="auto">
          <a:xfrm>
            <a:off x="1619250" y="2781300"/>
            <a:ext cx="792163" cy="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accent6">
                <a:lumMod val="50000"/>
              </a:schemeClr>
            </a:solidFill>
            <a:prstDash val="solid"/>
            <a:round/>
            <a:headEnd type="triangle"/>
            <a:tailEnd type="triangle"/>
          </a:ln>
          <a:effectLst/>
        </p:spPr>
      </p:cxnSp>
      <p:cxnSp>
        <p:nvCxnSpPr>
          <p:cNvPr id="7" name="직선 화살표 연결선 6"/>
          <p:cNvCxnSpPr/>
          <p:nvPr/>
        </p:nvCxnSpPr>
        <p:spPr bwMode="auto">
          <a:xfrm>
            <a:off x="1619250" y="3789363"/>
            <a:ext cx="792163" cy="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accent6">
                <a:lumMod val="50000"/>
              </a:schemeClr>
            </a:solidFill>
            <a:prstDash val="solid"/>
            <a:round/>
            <a:headEnd type="triangle"/>
            <a:tailEnd type="triangle"/>
          </a:ln>
          <a:effectLst/>
        </p:spPr>
      </p:cxnSp>
      <p:cxnSp>
        <p:nvCxnSpPr>
          <p:cNvPr id="8" name="직선 화살표 연결선 7"/>
          <p:cNvCxnSpPr/>
          <p:nvPr/>
        </p:nvCxnSpPr>
        <p:spPr bwMode="auto">
          <a:xfrm>
            <a:off x="1619250" y="4868863"/>
            <a:ext cx="792163" cy="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accent6">
                <a:lumMod val="50000"/>
              </a:schemeClr>
            </a:solidFill>
            <a:prstDash val="solid"/>
            <a:round/>
            <a:headEnd type="triangle"/>
            <a:tailEnd type="triangle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black">
          <a:xfrm>
            <a:off x="539750" y="620713"/>
            <a:ext cx="8280400" cy="5616575"/>
          </a:xfrm>
        </p:spPr>
        <p:txBody>
          <a:bodyPr/>
          <a:lstStyle/>
          <a:p>
            <a:pPr marL="0" lvl="1" indent="0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4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- logos, nous, </a:t>
            </a:r>
            <a:r>
              <a:rPr lang="en-US" altLang="ko-KR" sz="4400" b="1" dirty="0" err="1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dianoia</a:t>
            </a:r>
            <a:endParaRPr lang="en-US" altLang="ko-KR" sz="4400" b="1" dirty="0" smtClean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  <a:p>
            <a:pPr marL="0" lvl="1" indent="0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4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- ratio, </a:t>
            </a:r>
            <a:r>
              <a:rPr lang="en-US" altLang="ko-KR" sz="4400" b="1" dirty="0" err="1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intellectus</a:t>
            </a:r>
            <a:endParaRPr lang="en-US" altLang="ko-KR" sz="4400" b="1" dirty="0" smtClean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  <a:p>
            <a:pPr marL="0" lvl="1" indent="0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4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- reason, </a:t>
            </a:r>
            <a:r>
              <a:rPr lang="en-US" altLang="ko-KR" sz="4400" b="1" dirty="0" err="1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Vernunft</a:t>
            </a:r>
            <a:endParaRPr lang="en-US" altLang="ko-KR" sz="4400" b="1" dirty="0" smtClean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  <a:p>
            <a:pPr marL="0" lvl="1" indent="0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en-US" altLang="ko-KR" sz="4400" b="1" dirty="0" smtClean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  <a:p>
            <a:pPr marL="0" lvl="1" indent="0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4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“</a:t>
            </a:r>
            <a:r>
              <a:rPr lang="ko-KR" altLang="en-US" sz="44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말하다</a:t>
            </a:r>
            <a:r>
              <a:rPr lang="en-US" altLang="ko-KR" sz="44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, </a:t>
            </a:r>
            <a:r>
              <a:rPr lang="ko-KR" altLang="en-US" sz="44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셈하다</a:t>
            </a:r>
            <a:r>
              <a:rPr lang="en-US" altLang="ko-KR" sz="44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, </a:t>
            </a:r>
            <a:r>
              <a:rPr lang="ko-KR" altLang="en-US" sz="44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모으다</a:t>
            </a:r>
            <a:r>
              <a:rPr lang="en-US" altLang="ko-KR" sz="44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”</a:t>
            </a:r>
          </a:p>
          <a:p>
            <a:pPr marL="0" lvl="1" indent="0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4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“</a:t>
            </a:r>
            <a:r>
              <a:rPr lang="ko-KR" altLang="en-US" sz="44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추리</a:t>
            </a:r>
            <a:r>
              <a:rPr lang="en-US" altLang="ko-KR" sz="44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, </a:t>
            </a:r>
            <a:r>
              <a:rPr lang="ko-KR" altLang="en-US" sz="44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개념적 사고</a:t>
            </a:r>
            <a:r>
              <a:rPr lang="en-US" altLang="ko-KR" sz="44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, </a:t>
            </a:r>
            <a:r>
              <a:rPr lang="ko-KR" altLang="en-US" sz="44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계획</a:t>
            </a:r>
            <a:r>
              <a:rPr lang="en-US" altLang="ko-KR" sz="44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, </a:t>
            </a:r>
            <a:r>
              <a:rPr lang="ko-KR" altLang="en-US" sz="44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방법</a:t>
            </a:r>
            <a:r>
              <a:rPr lang="en-US" altLang="ko-KR" sz="44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, </a:t>
            </a:r>
            <a:r>
              <a:rPr lang="ko-KR" altLang="en-US" sz="44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설명</a:t>
            </a:r>
            <a:r>
              <a:rPr lang="en-US" altLang="ko-KR" sz="44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, </a:t>
            </a:r>
            <a:r>
              <a:rPr lang="ko-KR" altLang="en-US" sz="44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이론</a:t>
            </a:r>
            <a:r>
              <a:rPr lang="en-US" altLang="ko-KR" sz="44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, </a:t>
            </a:r>
            <a:r>
              <a:rPr lang="ko-KR" altLang="en-US" sz="44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원칙</a:t>
            </a:r>
            <a:r>
              <a:rPr lang="en-US" altLang="ko-KR" sz="44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, </a:t>
            </a:r>
            <a:r>
              <a:rPr lang="ko-KR" altLang="en-US" sz="44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원리</a:t>
            </a:r>
            <a:r>
              <a:rPr lang="en-US" altLang="ko-KR" sz="44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, </a:t>
            </a:r>
            <a:r>
              <a:rPr lang="ko-KR" altLang="en-US" sz="44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근거</a:t>
            </a:r>
            <a:r>
              <a:rPr lang="en-US" altLang="ko-KR" sz="44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, </a:t>
            </a:r>
            <a:r>
              <a:rPr lang="ko-KR" altLang="en-US" sz="44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말</a:t>
            </a:r>
            <a:r>
              <a:rPr lang="en-US" altLang="ko-KR" sz="44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, </a:t>
            </a:r>
            <a:r>
              <a:rPr lang="ko-KR" altLang="en-US" sz="44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학설</a:t>
            </a:r>
            <a:r>
              <a:rPr lang="en-US" altLang="ko-KR" sz="44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 noChangeArrowheads="1"/>
          </p:cNvSpPr>
          <p:nvPr>
            <p:ph type="body" idx="1"/>
          </p:nvPr>
        </p:nvSpPr>
        <p:spPr bwMode="black">
          <a:xfrm>
            <a:off x="395288" y="765175"/>
            <a:ext cx="8424862" cy="5472113"/>
          </a:xfrm>
        </p:spPr>
        <p:txBody>
          <a:bodyPr/>
          <a:lstStyle/>
          <a:p>
            <a:pPr marL="0" lvl="1" indent="0" algn="just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ko-KR" altLang="en-US" sz="4800" b="1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理</a:t>
            </a:r>
            <a:r>
              <a:rPr lang="en-US" altLang="ko-KR" sz="48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: </a:t>
            </a:r>
            <a:r>
              <a:rPr lang="ko-KR" altLang="en-US" sz="48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事理</a:t>
            </a:r>
            <a:r>
              <a:rPr lang="en-US" altLang="ko-KR" sz="48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. </a:t>
            </a:r>
            <a:r>
              <a:rPr lang="ko-KR" altLang="en-US" sz="48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天理</a:t>
            </a:r>
            <a:r>
              <a:rPr lang="en-US" altLang="ko-KR" sz="48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. </a:t>
            </a:r>
            <a:r>
              <a:rPr lang="ko-KR" altLang="en-US" sz="48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地理</a:t>
            </a:r>
            <a:r>
              <a:rPr lang="en-US" altLang="ko-KR" sz="48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. </a:t>
            </a:r>
            <a:r>
              <a:rPr lang="ko-KR" altLang="en-US" sz="48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數理</a:t>
            </a:r>
            <a:r>
              <a:rPr lang="en-US" altLang="ko-KR" sz="48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.</a:t>
            </a:r>
          </a:p>
          <a:p>
            <a:pPr marL="0" lvl="1" indent="0" algn="just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8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	⇒ </a:t>
            </a:r>
            <a:r>
              <a:rPr lang="ko-KR" altLang="en-US" sz="48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原理 </a:t>
            </a:r>
            <a:r>
              <a:rPr lang="en-US" altLang="ko-KR" sz="48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(</a:t>
            </a:r>
            <a:r>
              <a:rPr lang="ko-KR" altLang="en-US" sz="48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天道</a:t>
            </a:r>
            <a:r>
              <a:rPr lang="en-US" altLang="ko-KR" sz="48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)</a:t>
            </a:r>
            <a:endParaRPr lang="ko-KR" altLang="en-US" sz="4800" b="1" dirty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  <a:p>
            <a:pPr marL="0" lvl="1" indent="0" algn="just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de-DE" altLang="ko-KR" sz="4800" b="1" dirty="0" smtClean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  <a:p>
            <a:pPr marL="0" lvl="1" indent="0" algn="just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2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= (</a:t>
            </a:r>
            <a:r>
              <a:rPr lang="ko-KR" altLang="en-US" sz="42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인간과 세상의</a:t>
            </a:r>
            <a:r>
              <a:rPr lang="en-US" altLang="ko-KR" sz="42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) </a:t>
            </a:r>
            <a:r>
              <a:rPr lang="ko-KR" altLang="en-US" sz="42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보편적 질서 원리</a:t>
            </a:r>
            <a:endParaRPr lang="en-US" altLang="ko-KR" sz="4200" b="1" dirty="0" smtClean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  <a:p>
            <a:pPr marL="0" lvl="1" indent="0" algn="just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ko-KR" sz="4200" b="1" dirty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  <a:p>
            <a:pPr marL="0" lvl="1" indent="0" algn="just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ko-KR" altLang="en-US" sz="4200" b="1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 </a:t>
            </a:r>
            <a:r>
              <a:rPr lang="ko-KR" altLang="en-US" sz="4200" b="1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理性</a:t>
            </a:r>
            <a:r>
              <a:rPr lang="en-US" altLang="ko-KR" sz="4200" b="1" dirty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: </a:t>
            </a:r>
            <a:r>
              <a:rPr lang="ko-KR" altLang="en-US" sz="4200" b="1" dirty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근원적 이치와</a:t>
            </a:r>
            <a:r>
              <a:rPr lang="en-US" altLang="ko-KR" sz="4200" b="1" dirty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 </a:t>
            </a:r>
            <a:r>
              <a:rPr lang="ko-KR" altLang="en-US" sz="4200" b="1" dirty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보편적 질서원리를 아는 능력</a:t>
            </a:r>
            <a:r>
              <a:rPr lang="en-US" altLang="ko-KR" sz="4200" b="1" dirty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/</a:t>
            </a:r>
            <a:r>
              <a:rPr lang="ko-KR" altLang="en-US" sz="4200" b="1" dirty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본성</a:t>
            </a:r>
            <a:endParaRPr lang="en-US" altLang="ko-KR" sz="4200" b="1" dirty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  <a:p>
            <a:pPr marL="0" lvl="1" indent="0" algn="just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ko-KR" altLang="en-US" sz="3600" b="1" dirty="0" smtClean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Grp="1" noChangeArrowheads="1"/>
          </p:cNvSpPr>
          <p:nvPr>
            <p:ph idx="1"/>
          </p:nvPr>
        </p:nvSpPr>
        <p:spPr>
          <a:xfrm>
            <a:off x="684213" y="1052513"/>
            <a:ext cx="8064500" cy="4497387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ko-KR" altLang="en-US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본능을 초월하는 이성의 힘</a:t>
            </a:r>
            <a:r>
              <a:rPr lang="en-US" altLang="ko-KR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!</a:t>
            </a:r>
            <a:r>
              <a:rPr lang="ko-KR" altLang="en-US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 </a:t>
            </a:r>
            <a:endParaRPr lang="en-US" altLang="ko-KR" sz="4400" dirty="0" smtClean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800" dirty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	</a:t>
            </a:r>
            <a:r>
              <a:rPr lang="en-US" altLang="ko-KR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  <a:sym typeface="Wingdings" panose="05000000000000000000" pitchFamily="2" charset="2"/>
              </a:rPr>
              <a:t> </a:t>
            </a:r>
            <a:r>
              <a:rPr lang="ko-KR" altLang="en-US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이상과 이념</a:t>
            </a:r>
            <a:endParaRPr lang="en-US" altLang="ko-KR" sz="4800" dirty="0" smtClean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	</a:t>
            </a:r>
            <a:r>
              <a:rPr lang="en-US" altLang="ko-KR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  <a:sym typeface="Wingdings" panose="05000000000000000000" pitchFamily="2" charset="2"/>
              </a:rPr>
              <a:t> </a:t>
            </a:r>
            <a:r>
              <a:rPr lang="ko-KR" altLang="en-US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문화와 역사</a:t>
            </a:r>
            <a:endParaRPr lang="en-US" altLang="ko-KR" sz="4800" dirty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981075"/>
            <a:ext cx="8569325" cy="4497388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- </a:t>
            </a:r>
            <a:r>
              <a:rPr lang="ko-KR" altLang="en-US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인간은 동물적 본능</a:t>
            </a:r>
            <a:r>
              <a:rPr lang="en-US" altLang="ko-KR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(</a:t>
            </a:r>
            <a:r>
              <a:rPr lang="ko-KR" altLang="en-US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충동</a:t>
            </a:r>
            <a:r>
              <a:rPr lang="en-US" altLang="ko-KR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)</a:t>
            </a:r>
            <a:r>
              <a:rPr lang="ko-KR" altLang="en-US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과 함께 이성을 또한 갖고 있다</a:t>
            </a:r>
            <a:r>
              <a:rPr lang="en-US" altLang="ko-KR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.</a:t>
            </a:r>
            <a:r>
              <a:rPr lang="ko-KR" altLang="en-US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 </a:t>
            </a:r>
            <a:endParaRPr lang="en-US" altLang="ko-KR" sz="4400" dirty="0" smtClean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- </a:t>
            </a:r>
            <a:r>
              <a:rPr lang="ko-KR" altLang="en-US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이성은 주어진 것</a:t>
            </a:r>
            <a:r>
              <a:rPr lang="en-US" altLang="ko-KR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/</a:t>
            </a:r>
            <a:r>
              <a:rPr lang="ko-KR" altLang="en-US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당연한 일 이상을 항상 바란다</a:t>
            </a:r>
            <a:r>
              <a:rPr lang="en-US" altLang="ko-KR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.</a:t>
            </a:r>
            <a:endParaRPr lang="en-US" altLang="ko-KR" sz="4800" dirty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Grp="1" noChangeArrowheads="1"/>
          </p:cNvSpPr>
          <p:nvPr>
            <p:ph idx="1"/>
          </p:nvPr>
        </p:nvSpPr>
        <p:spPr>
          <a:xfrm>
            <a:off x="684213" y="1052513"/>
            <a:ext cx="8064500" cy="4497387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ko-KR" altLang="en-US" sz="5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당연한 일 </a:t>
            </a:r>
            <a:r>
              <a:rPr lang="en-US" altLang="ko-KR" sz="5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= </a:t>
            </a:r>
            <a:r>
              <a:rPr lang="ko-KR" altLang="en-US" sz="5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기성문화</a:t>
            </a:r>
            <a:r>
              <a:rPr lang="ko-KR" altLang="en-US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 </a:t>
            </a:r>
            <a:endParaRPr lang="en-US" altLang="ko-KR" sz="4400" dirty="0" smtClean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800" dirty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	</a:t>
            </a:r>
            <a:r>
              <a:rPr lang="ko-KR" altLang="en-US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  <a:sym typeface="Wingdings" panose="05000000000000000000" pitchFamily="2" charset="2"/>
              </a:rPr>
              <a:t>도덕관</a:t>
            </a:r>
            <a:r>
              <a:rPr lang="en-US" altLang="ko-KR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  <a:sym typeface="Wingdings" panose="05000000000000000000" pitchFamily="2" charset="2"/>
              </a:rPr>
              <a:t>. </a:t>
            </a:r>
            <a:r>
              <a:rPr lang="ko-KR" altLang="en-US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  <a:sym typeface="Wingdings" panose="05000000000000000000" pitchFamily="2" charset="2"/>
              </a:rPr>
              <a:t>가치관</a:t>
            </a:r>
            <a:r>
              <a:rPr lang="en-US" altLang="ko-KR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  <a:sym typeface="Wingdings" panose="05000000000000000000" pitchFamily="2" charset="2"/>
              </a:rPr>
              <a:t>. </a:t>
            </a:r>
            <a:r>
              <a:rPr lang="ko-KR" altLang="en-US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  <a:sym typeface="Wingdings" panose="05000000000000000000" pitchFamily="2" charset="2"/>
              </a:rPr>
              <a:t>세계관</a:t>
            </a:r>
            <a:endParaRPr lang="en-US" altLang="ko-KR" sz="4800" dirty="0" smtClean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	</a:t>
            </a:r>
            <a:r>
              <a:rPr lang="ko-KR" altLang="en-US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전통</a:t>
            </a:r>
            <a:r>
              <a:rPr lang="en-US" altLang="ko-KR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.</a:t>
            </a:r>
            <a:r>
              <a:rPr lang="ko-KR" altLang="en-US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 환경</a:t>
            </a:r>
            <a:r>
              <a:rPr lang="en-US" altLang="ko-KR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.</a:t>
            </a:r>
            <a:endParaRPr lang="en-US" altLang="ko-KR" sz="4800" dirty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620713"/>
            <a:ext cx="8424863" cy="5761037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ko-KR" altLang="en-US" sz="5400" dirty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삶</a:t>
            </a:r>
            <a:r>
              <a:rPr lang="ko-KR" altLang="en-US" sz="5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의 당연한 일상</a:t>
            </a:r>
            <a:endParaRPr lang="en-US" altLang="ko-KR" sz="5400" dirty="0" smtClean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5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	</a:t>
            </a:r>
            <a:r>
              <a:rPr lang="en-US" altLang="ko-KR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	</a:t>
            </a:r>
            <a:r>
              <a:rPr lang="en-US" altLang="ko-KR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  <a:sym typeface="Wingdings" panose="05000000000000000000" pitchFamily="2" charset="2"/>
              </a:rPr>
              <a:t> </a:t>
            </a:r>
            <a:r>
              <a:rPr lang="ko-KR" altLang="en-US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수용할</a:t>
            </a:r>
            <a:r>
              <a:rPr lang="en-US" altLang="ko-KR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 </a:t>
            </a:r>
            <a:r>
              <a:rPr lang="ko-KR" altLang="en-US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것인가</a:t>
            </a:r>
            <a:r>
              <a:rPr lang="en-US" altLang="ko-KR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, </a:t>
            </a:r>
          </a:p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	</a:t>
            </a:r>
            <a:r>
              <a:rPr lang="en-US" altLang="ko-KR" sz="4800" dirty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	</a:t>
            </a:r>
            <a:r>
              <a:rPr lang="ko-KR" altLang="en-US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의문을 가질 것인가</a:t>
            </a:r>
            <a:r>
              <a:rPr lang="en-US" altLang="ko-KR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?</a:t>
            </a:r>
          </a:p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		</a:t>
            </a:r>
            <a:r>
              <a:rPr lang="en-US" altLang="ko-KR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  <a:sym typeface="Wingdings" panose="05000000000000000000" pitchFamily="2" charset="2"/>
              </a:rPr>
              <a:t> </a:t>
            </a:r>
            <a:r>
              <a:rPr lang="ko-KR" altLang="en-US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본능을 따를 것인가</a:t>
            </a:r>
            <a:r>
              <a:rPr lang="en-US" altLang="ko-KR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, </a:t>
            </a:r>
          </a:p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400" dirty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	</a:t>
            </a:r>
            <a:r>
              <a:rPr lang="en-US" altLang="ko-KR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	</a:t>
            </a:r>
            <a:r>
              <a:rPr lang="ko-KR" altLang="en-US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이성을 따를 것인가</a:t>
            </a:r>
            <a:r>
              <a:rPr lang="en-US" altLang="ko-KR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?</a:t>
            </a:r>
            <a:endParaRPr lang="en-US" altLang="ko-KR" sz="4400" dirty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Grp="1" noChangeArrowheads="1"/>
          </p:cNvSpPr>
          <p:nvPr>
            <p:ph idx="1"/>
          </p:nvPr>
        </p:nvSpPr>
        <p:spPr>
          <a:xfrm>
            <a:off x="684213" y="981075"/>
            <a:ext cx="8064500" cy="4568825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- </a:t>
            </a:r>
            <a:r>
              <a:rPr lang="ko-KR" altLang="en-US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일상적이고 당연한 일에 대해 묻고 그에 대해 생각할 때에 우리는 자기 삶의 주인이 될 수 있다</a:t>
            </a:r>
            <a:r>
              <a:rPr lang="en-US" altLang="ko-KR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.</a:t>
            </a:r>
            <a:endParaRPr lang="en-US" altLang="ko-KR" sz="4800" dirty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 bwMode="black">
          <a:xfrm>
            <a:off x="684213" y="1196975"/>
            <a:ext cx="7848600" cy="4606925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- </a:t>
            </a:r>
            <a:r>
              <a:rPr lang="ko-KR" altLang="en-US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단편적 지식과 당연한 일상이 주는 한계와 이를 넘어서려는 이성적 사고</a:t>
            </a:r>
            <a:endParaRPr lang="en-US" altLang="ko-KR" sz="4800" dirty="0" smtClean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= </a:t>
            </a:r>
            <a:r>
              <a:rPr lang="ko-KR" altLang="en-US" sz="48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철학적 태도</a:t>
            </a:r>
            <a:endParaRPr lang="en-US" altLang="ko-KR" sz="4800" dirty="0" smtClean="0">
              <a:solidFill>
                <a:schemeClr val="tx2"/>
              </a:solidFill>
              <a:ea typeface="굴림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620713"/>
            <a:ext cx="8207375" cy="5256212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sz="4800" dirty="0" smtClean="0">
                <a:solidFill>
                  <a:srgbClr val="7030A0"/>
                </a:solidFill>
                <a:ea typeface="굴림" charset="-127"/>
              </a:rPr>
              <a:t>왜 우리는 철학을 하는가</a:t>
            </a:r>
            <a:r>
              <a:rPr lang="en-US" altLang="ko-KR" sz="4800" dirty="0" smtClean="0">
                <a:solidFill>
                  <a:srgbClr val="7030A0"/>
                </a:solidFill>
                <a:ea typeface="굴림" charset="-127"/>
              </a:rPr>
              <a:t>?</a:t>
            </a:r>
            <a:br>
              <a:rPr lang="en-US" altLang="ko-KR" sz="4800" dirty="0" smtClean="0">
                <a:solidFill>
                  <a:srgbClr val="7030A0"/>
                </a:solidFill>
                <a:ea typeface="굴림" charset="-127"/>
              </a:rPr>
            </a:br>
            <a:r>
              <a:rPr lang="en-US" altLang="ko-KR" sz="4800" dirty="0">
                <a:solidFill>
                  <a:schemeClr val="accent1">
                    <a:lumMod val="50000"/>
                  </a:schemeClr>
                </a:solidFill>
                <a:ea typeface="굴림" charset="-127"/>
              </a:rPr>
              <a:t/>
            </a:r>
            <a:br>
              <a:rPr lang="en-US" altLang="ko-KR" sz="4800" dirty="0">
                <a:solidFill>
                  <a:schemeClr val="accent1">
                    <a:lumMod val="50000"/>
                  </a:schemeClr>
                </a:solidFill>
                <a:ea typeface="굴림" charset="-127"/>
              </a:rPr>
            </a:br>
            <a:r>
              <a:rPr lang="en-US" altLang="ko-KR" sz="4800" dirty="0">
                <a:solidFill>
                  <a:schemeClr val="accent6">
                    <a:lumMod val="50000"/>
                  </a:schemeClr>
                </a:solidFill>
                <a:ea typeface="굴림" charset="-127"/>
                <a:sym typeface="Wingdings" panose="05000000000000000000" pitchFamily="2" charset="2"/>
              </a:rPr>
              <a:t> </a:t>
            </a:r>
            <a:r>
              <a:rPr lang="ko-KR" altLang="en-US" sz="4800" dirty="0">
                <a:solidFill>
                  <a:schemeClr val="accent6">
                    <a:lumMod val="50000"/>
                  </a:schemeClr>
                </a:solidFill>
                <a:ea typeface="굴림" charset="-127"/>
              </a:rPr>
              <a:t>철학은 우리에게 필요한가</a:t>
            </a:r>
            <a:r>
              <a:rPr lang="en-US" altLang="ko-KR" sz="4800" dirty="0">
                <a:solidFill>
                  <a:schemeClr val="accent6">
                    <a:lumMod val="50000"/>
                  </a:schemeClr>
                </a:solidFill>
                <a:ea typeface="굴림" charset="-127"/>
              </a:rPr>
              <a:t>?</a:t>
            </a:r>
            <a:r>
              <a:rPr lang="ko-KR" altLang="en-US" sz="4800" dirty="0">
                <a:solidFill>
                  <a:schemeClr val="accent6">
                    <a:lumMod val="50000"/>
                  </a:schemeClr>
                </a:solidFill>
                <a:ea typeface="굴림" charset="-127"/>
              </a:rPr>
              <a:t> </a:t>
            </a:r>
            <a:br>
              <a:rPr lang="ko-KR" altLang="en-US" sz="4800" dirty="0">
                <a:solidFill>
                  <a:schemeClr val="accent6">
                    <a:lumMod val="50000"/>
                  </a:schemeClr>
                </a:solidFill>
                <a:ea typeface="굴림" charset="-127"/>
              </a:rPr>
            </a:br>
            <a:endParaRPr lang="en-US" altLang="ko-KR" sz="4800" dirty="0" smtClean="0">
              <a:solidFill>
                <a:schemeClr val="accent1">
                  <a:lumMod val="50000"/>
                </a:schemeClr>
              </a:solidFill>
              <a:ea typeface="굴림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3"/>
          <p:cNvSpPr>
            <a:spLocks noGrp="1" noChangeArrowheads="1"/>
          </p:cNvSpPr>
          <p:nvPr>
            <p:ph idx="1"/>
          </p:nvPr>
        </p:nvSpPr>
        <p:spPr bwMode="black">
          <a:xfrm>
            <a:off x="395288" y="620713"/>
            <a:ext cx="8208962" cy="5400675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ko-KR" smtClean="0">
              <a:solidFill>
                <a:srgbClr val="6E815B"/>
              </a:solidFill>
              <a:ea typeface="굴림" panose="020B0600000101010101" pitchFamily="50" charset="-127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ko-KR" smtClean="0">
              <a:solidFill>
                <a:schemeClr val="tx2"/>
              </a:solidFill>
              <a:ea typeface="굴림" panose="020B0600000101010101" pitchFamily="50" charset="-127"/>
            </a:endParaRPr>
          </a:p>
          <a:p>
            <a:pPr lvl="1" eaLnBrk="1" hangingPunct="1">
              <a:lnSpc>
                <a:spcPct val="80000"/>
              </a:lnSpc>
            </a:pPr>
            <a:endParaRPr lang="en-US" altLang="ko-KR" smtClean="0">
              <a:solidFill>
                <a:schemeClr val="tx2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pic>
        <p:nvPicPr>
          <p:cNvPr id="48131" name="그림 3" descr="4950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773238"/>
            <a:ext cx="4098925" cy="273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2" name="오른쪽 화살표 7"/>
          <p:cNvSpPr>
            <a:spLocks noChangeArrowheads="1"/>
          </p:cNvSpPr>
          <p:nvPr/>
        </p:nvSpPr>
        <p:spPr bwMode="auto">
          <a:xfrm>
            <a:off x="4859338" y="2852738"/>
            <a:ext cx="1008062" cy="360362"/>
          </a:xfrm>
          <a:prstGeom prst="rightArrow">
            <a:avLst>
              <a:gd name="adj1" fmla="val 50000"/>
              <a:gd name="adj2" fmla="val 49951"/>
            </a:avLst>
          </a:prstGeom>
          <a:solidFill>
            <a:schemeClr val="accent1"/>
          </a:solidFill>
          <a:ln w="9525" algn="ctr">
            <a:solidFill>
              <a:srgbClr val="7030A0"/>
            </a:solidFill>
            <a:round/>
            <a:headEnd/>
            <a:tailEnd/>
          </a:ln>
        </p:spPr>
        <p:txBody>
          <a:bodyPr/>
          <a:lstStyle>
            <a:lvl1pPr latinLnBrk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hlink"/>
                </a:solidFill>
                <a:latin typeface="Verdan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latinLnBrk="0" hangingPunct="1">
              <a:spcBef>
                <a:spcPct val="0"/>
              </a:spcBef>
              <a:buClrTx/>
              <a:buFontTx/>
              <a:buNone/>
            </a:pPr>
            <a:endParaRPr lang="ko-KR" altLang="en-US" sz="1800" b="0">
              <a:solidFill>
                <a:schemeClr val="tx1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pic>
        <p:nvPicPr>
          <p:cNvPr id="48133" name="그림 8" descr="60140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888" y="1700213"/>
            <a:ext cx="2303462" cy="299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6" name="TextBox 9"/>
          <p:cNvSpPr txBox="1">
            <a:spLocks noChangeArrowheads="1"/>
          </p:cNvSpPr>
          <p:nvPr/>
        </p:nvSpPr>
        <p:spPr bwMode="auto">
          <a:xfrm>
            <a:off x="1619250" y="765175"/>
            <a:ext cx="4968875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ko-KR" altLang="en-US" sz="3600" b="1" dirty="0">
                <a:solidFill>
                  <a:schemeClr val="accent6">
                    <a:lumMod val="50000"/>
                  </a:schemeClr>
                </a:solidFill>
                <a:latin typeface="Arial" charset="0"/>
                <a:ea typeface="굴림" charset="-127"/>
              </a:rPr>
              <a:t>수단과 목적</a:t>
            </a:r>
            <a:r>
              <a:rPr lang="en-US" altLang="ko-KR" sz="3600" b="1" dirty="0">
                <a:solidFill>
                  <a:schemeClr val="accent6">
                    <a:lumMod val="50000"/>
                  </a:schemeClr>
                </a:solidFill>
                <a:latin typeface="Arial" charset="0"/>
                <a:ea typeface="굴림" charset="-127"/>
              </a:rPr>
              <a:t>: </a:t>
            </a:r>
            <a:r>
              <a:rPr lang="ko-KR" altLang="en-US" sz="3600" b="1" dirty="0">
                <a:solidFill>
                  <a:schemeClr val="accent6">
                    <a:lumMod val="50000"/>
                  </a:schemeClr>
                </a:solidFill>
                <a:latin typeface="Arial" charset="0"/>
                <a:ea typeface="굴림" charset="-127"/>
              </a:rPr>
              <a:t>유용성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>
            <a:spLocks noGrp="1" noChangeArrowheads="1"/>
          </p:cNvSpPr>
          <p:nvPr>
            <p:ph idx="1"/>
          </p:nvPr>
        </p:nvSpPr>
        <p:spPr bwMode="black">
          <a:xfrm>
            <a:off x="1187450" y="836613"/>
            <a:ext cx="7345363" cy="5327650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ko-KR" sz="3600" dirty="0" smtClean="0">
              <a:solidFill>
                <a:schemeClr val="accent6">
                  <a:lumMod val="50000"/>
                </a:schemeClr>
              </a:solidFill>
              <a:ea typeface="굴림" charset="-127"/>
            </a:endParaRPr>
          </a:p>
          <a:p>
            <a:pPr algn="just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ko-KR" sz="3600" dirty="0" smtClean="0">
              <a:solidFill>
                <a:schemeClr val="accent6">
                  <a:lumMod val="50000"/>
                </a:schemeClr>
              </a:solidFill>
              <a:ea typeface="굴림" charset="-127"/>
            </a:endParaRPr>
          </a:p>
          <a:p>
            <a:pPr algn="just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ko-KR" sz="3600" dirty="0" smtClean="0">
              <a:solidFill>
                <a:schemeClr val="accent6">
                  <a:lumMod val="50000"/>
                </a:schemeClr>
              </a:solidFill>
              <a:ea typeface="굴림" charset="-127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ko-KR" dirty="0" smtClean="0">
              <a:solidFill>
                <a:schemeClr val="tx2"/>
              </a:solidFill>
              <a:ea typeface="굴림" charset="-127"/>
            </a:endParaRPr>
          </a:p>
          <a:p>
            <a:pPr lvl="1" eaLnBrk="1" hangingPunct="1">
              <a:lnSpc>
                <a:spcPct val="80000"/>
              </a:lnSpc>
              <a:defRPr/>
            </a:pPr>
            <a:endParaRPr lang="en-US" altLang="ko-KR" dirty="0" smtClean="0">
              <a:solidFill>
                <a:schemeClr val="tx2"/>
              </a:solidFill>
              <a:ea typeface="굴림" charset="-127"/>
            </a:endParaRPr>
          </a:p>
        </p:txBody>
      </p:sp>
      <p:sp>
        <p:nvSpPr>
          <p:cNvPr id="49155" name="타원 1"/>
          <p:cNvSpPr>
            <a:spLocks noChangeArrowheads="1"/>
          </p:cNvSpPr>
          <p:nvPr/>
        </p:nvSpPr>
        <p:spPr bwMode="auto">
          <a:xfrm>
            <a:off x="971550" y="1184275"/>
            <a:ext cx="4032250" cy="1812925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hlink"/>
                </a:solidFill>
                <a:latin typeface="Verdan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latinLnBrk="0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3200" b="0">
                <a:solidFill>
                  <a:srgbClr val="354E1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유용성과 상대적 가치</a:t>
            </a:r>
            <a:endParaRPr lang="en-US" altLang="ko-KR" sz="3200" b="0">
              <a:solidFill>
                <a:srgbClr val="354E10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ClrTx/>
              <a:buFontTx/>
              <a:buNone/>
            </a:pPr>
            <a:endParaRPr lang="ko-KR" altLang="en-US" sz="1800" b="0">
              <a:solidFill>
                <a:schemeClr val="tx1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49156" name="타원 3"/>
          <p:cNvSpPr>
            <a:spLocks noChangeArrowheads="1"/>
          </p:cNvSpPr>
          <p:nvPr/>
        </p:nvSpPr>
        <p:spPr bwMode="auto">
          <a:xfrm>
            <a:off x="4284663" y="3284538"/>
            <a:ext cx="4248150" cy="2089150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hlink"/>
                </a:solidFill>
                <a:latin typeface="Verdan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latinLnBrk="0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3200" b="0">
                <a:solidFill>
                  <a:srgbClr val="354E1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(</a:t>
            </a:r>
            <a:r>
              <a:rPr lang="ko-KR" altLang="en-US" sz="3200" b="0">
                <a:solidFill>
                  <a:srgbClr val="354E1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본질적</a:t>
            </a:r>
            <a:r>
              <a:rPr lang="en-US" altLang="ko-KR" sz="3200" b="0">
                <a:solidFill>
                  <a:srgbClr val="354E1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)</a:t>
            </a:r>
            <a:r>
              <a:rPr lang="ko-KR" altLang="en-US" sz="3200" b="0">
                <a:solidFill>
                  <a:srgbClr val="354E1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 필연성과 절대적 가치</a:t>
            </a:r>
            <a:endParaRPr lang="en-US" altLang="ko-KR" sz="3200" b="0">
              <a:solidFill>
                <a:srgbClr val="354E10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pPr eaLnBrk="1" latinLnBrk="0" hangingPunct="1">
              <a:spcBef>
                <a:spcPct val="0"/>
              </a:spcBef>
              <a:buClrTx/>
              <a:buFontTx/>
              <a:buNone/>
            </a:pPr>
            <a:endParaRPr lang="ko-KR" altLang="en-US" sz="1800" b="0">
              <a:solidFill>
                <a:schemeClr val="tx1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 bwMode="black">
          <a:xfrm>
            <a:off x="539750" y="908050"/>
            <a:ext cx="8208963" cy="4895850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400" dirty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- </a:t>
            </a:r>
            <a:r>
              <a:rPr lang="ko-KR" altLang="en-US" sz="4400" dirty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인간의 본질로서의 철학</a:t>
            </a:r>
            <a:r>
              <a:rPr lang="en-US" altLang="ko-KR" sz="4400" dirty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?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		</a:t>
            </a:r>
            <a:r>
              <a:rPr lang="ko-KR" altLang="en-US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철학은 인간의 본성인가</a:t>
            </a:r>
            <a:r>
              <a:rPr lang="en-US" altLang="ko-KR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?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en-US" altLang="ko-KR" sz="4400" dirty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- </a:t>
            </a:r>
            <a:r>
              <a:rPr lang="ko-KR" altLang="en-US" sz="4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인간의 이성적 사고는 어떻게 전개되는가</a:t>
            </a:r>
            <a:r>
              <a:rPr lang="en-US" altLang="ko-KR" sz="40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?</a:t>
            </a:r>
            <a:endParaRPr lang="en-US" altLang="ko-KR" dirty="0" smtClean="0">
              <a:solidFill>
                <a:schemeClr val="tx2"/>
              </a:solidFill>
              <a:ea typeface="굴림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그림 2" descr="desk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1341438"/>
            <a:ext cx="5905500" cy="400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그림 2" descr="desk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1988" y="333375"/>
            <a:ext cx="3289300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7" name="오른쪽 화살표 10"/>
          <p:cNvSpPr>
            <a:spLocks noChangeArrowheads="1"/>
          </p:cNvSpPr>
          <p:nvPr/>
        </p:nvSpPr>
        <p:spPr bwMode="auto">
          <a:xfrm>
            <a:off x="4427538" y="4292600"/>
            <a:ext cx="1008062" cy="404813"/>
          </a:xfrm>
          <a:prstGeom prst="rightArrow">
            <a:avLst>
              <a:gd name="adj1" fmla="val 50000"/>
              <a:gd name="adj2" fmla="val 50034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latinLnBrk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hlink"/>
                </a:solidFill>
                <a:latin typeface="Verdan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latinLnBrk="0" hangingPunct="1">
              <a:spcBef>
                <a:spcPct val="0"/>
              </a:spcBef>
              <a:buClrTx/>
              <a:buFontTx/>
              <a:buNone/>
            </a:pPr>
            <a:endParaRPr lang="ko-KR" altLang="en-US" sz="1800" b="0">
              <a:solidFill>
                <a:schemeClr val="tx1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52228" name="타원 11"/>
          <p:cNvSpPr>
            <a:spLocks noChangeArrowheads="1"/>
          </p:cNvSpPr>
          <p:nvPr/>
        </p:nvSpPr>
        <p:spPr bwMode="auto">
          <a:xfrm>
            <a:off x="827088" y="798513"/>
            <a:ext cx="2663825" cy="1214437"/>
          </a:xfrm>
          <a:prstGeom prst="ellipse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latinLnBrk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hlink"/>
                </a:solidFill>
                <a:latin typeface="Verdan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latinLnBrk="0" hangingPunct="1">
              <a:spcBef>
                <a:spcPct val="0"/>
              </a:spcBef>
              <a:buClrTx/>
              <a:buFontTx/>
              <a:buNone/>
            </a:pPr>
            <a:endParaRPr lang="ko-KR" altLang="en-US" sz="1800" b="0">
              <a:solidFill>
                <a:schemeClr val="tx1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52229" name="오른쪽 화살표 12"/>
          <p:cNvSpPr>
            <a:spLocks noChangeArrowheads="1"/>
          </p:cNvSpPr>
          <p:nvPr/>
        </p:nvSpPr>
        <p:spPr bwMode="auto">
          <a:xfrm rot="10800000">
            <a:off x="4078288" y="1211263"/>
            <a:ext cx="1074737" cy="388937"/>
          </a:xfrm>
          <a:prstGeom prst="rightArrow">
            <a:avLst>
              <a:gd name="adj1" fmla="val 50000"/>
              <a:gd name="adj2" fmla="val 50084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latinLnBrk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hlink"/>
                </a:solidFill>
                <a:latin typeface="Verdan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latinLnBrk="0" hangingPunct="1">
              <a:spcBef>
                <a:spcPct val="0"/>
              </a:spcBef>
              <a:buClrTx/>
              <a:buFontTx/>
              <a:buNone/>
            </a:pPr>
            <a:endParaRPr lang="ko-KR" altLang="en-US" sz="1800" b="0">
              <a:solidFill>
                <a:schemeClr val="tx1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pic>
        <p:nvPicPr>
          <p:cNvPr id="52230" name="그림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7438" y="3370263"/>
            <a:ext cx="24384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1" name="오른쪽 화살표 12"/>
          <p:cNvSpPr>
            <a:spLocks noChangeArrowheads="1"/>
          </p:cNvSpPr>
          <p:nvPr/>
        </p:nvSpPr>
        <p:spPr bwMode="auto">
          <a:xfrm rot="5400000">
            <a:off x="1822450" y="2578100"/>
            <a:ext cx="962025" cy="358775"/>
          </a:xfrm>
          <a:prstGeom prst="rightArrow">
            <a:avLst>
              <a:gd name="adj1" fmla="val 50000"/>
              <a:gd name="adj2" fmla="val 50264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latinLnBrk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hlink"/>
                </a:solidFill>
                <a:latin typeface="Verdan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latinLnBrk="0" hangingPunct="1">
              <a:spcBef>
                <a:spcPct val="0"/>
              </a:spcBef>
              <a:buClrTx/>
              <a:buFontTx/>
              <a:buNone/>
            </a:pPr>
            <a:endParaRPr lang="ko-KR" altLang="en-US" sz="1800" b="0">
              <a:solidFill>
                <a:schemeClr val="tx1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pic>
        <p:nvPicPr>
          <p:cNvPr id="52232" name="그림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3492500"/>
            <a:ext cx="2887662" cy="199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3"/>
          <p:cNvSpPr>
            <a:spLocks noGrp="1" noChangeArrowheads="1"/>
          </p:cNvSpPr>
          <p:nvPr>
            <p:ph type="body" idx="1"/>
          </p:nvPr>
        </p:nvSpPr>
        <p:spPr bwMode="black">
          <a:xfrm>
            <a:off x="971550" y="765175"/>
            <a:ext cx="7345363" cy="4906963"/>
          </a:xfrm>
        </p:spPr>
        <p:txBody>
          <a:bodyPr/>
          <a:lstStyle/>
          <a:p>
            <a:pPr marL="0" lvl="1" indent="0"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de-DE" altLang="ko-KR" sz="3200" b="1" smtClean="0">
                <a:solidFill>
                  <a:srgbClr val="6E815B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	</a:t>
            </a:r>
            <a:endParaRPr lang="en-US" altLang="ko-KR" sz="3200" b="1" smtClean="0">
              <a:solidFill>
                <a:srgbClr val="6E815B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pPr marL="0" lvl="1" indent="0"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ko-KR" sz="3200" b="1" smtClean="0">
              <a:solidFill>
                <a:srgbClr val="6E815B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pPr marL="0" lvl="1" indent="0"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ko-KR" sz="3200" b="1" smtClean="0">
              <a:solidFill>
                <a:srgbClr val="6E815B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53251" name="오른쪽 화살표 3"/>
          <p:cNvSpPr>
            <a:spLocks noChangeArrowheads="1"/>
          </p:cNvSpPr>
          <p:nvPr/>
        </p:nvSpPr>
        <p:spPr bwMode="auto">
          <a:xfrm rot="9833811">
            <a:off x="4873625" y="1438275"/>
            <a:ext cx="1328738" cy="280988"/>
          </a:xfrm>
          <a:prstGeom prst="rightArrow">
            <a:avLst>
              <a:gd name="adj1" fmla="val 50000"/>
              <a:gd name="adj2" fmla="val 49981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latinLnBrk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hlink"/>
                </a:solidFill>
                <a:latin typeface="Verdan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latinLnBrk="0" hangingPunct="1">
              <a:spcBef>
                <a:spcPct val="0"/>
              </a:spcBef>
              <a:buClrTx/>
              <a:buFontTx/>
              <a:buNone/>
            </a:pPr>
            <a:endParaRPr lang="ko-KR" altLang="en-US" sz="1800" b="0">
              <a:solidFill>
                <a:schemeClr val="tx1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53252" name="오른쪽 화살표 5"/>
          <p:cNvSpPr>
            <a:spLocks noChangeArrowheads="1"/>
          </p:cNvSpPr>
          <p:nvPr/>
        </p:nvSpPr>
        <p:spPr bwMode="auto">
          <a:xfrm rot="1666175">
            <a:off x="2171700" y="4021138"/>
            <a:ext cx="1387475" cy="327025"/>
          </a:xfrm>
          <a:prstGeom prst="rightArrow">
            <a:avLst>
              <a:gd name="adj1" fmla="val 50000"/>
              <a:gd name="adj2" fmla="val 50088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latinLnBrk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hlink"/>
                </a:solidFill>
                <a:latin typeface="Verdana" panose="020B0604030504040204" pitchFamily="34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latinLnBrk="0" hangingPunct="1">
              <a:spcBef>
                <a:spcPct val="0"/>
              </a:spcBef>
              <a:buClrTx/>
              <a:buFontTx/>
              <a:buNone/>
            </a:pPr>
            <a:endParaRPr lang="ko-KR" altLang="en-US" sz="1800" b="0">
              <a:solidFill>
                <a:schemeClr val="tx1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pic>
        <p:nvPicPr>
          <p:cNvPr id="53253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563" y="227013"/>
            <a:ext cx="2192337" cy="219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4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838" y="823913"/>
            <a:ext cx="4183062" cy="2671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5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175" y="3873500"/>
            <a:ext cx="4913313" cy="2379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 bwMode="black">
          <a:xfrm>
            <a:off x="539750" y="1125538"/>
            <a:ext cx="8064500" cy="4967287"/>
          </a:xfrm>
        </p:spPr>
        <p:txBody>
          <a:bodyPr/>
          <a:lstStyle/>
          <a:p>
            <a:pPr marL="0" indent="0" algn="just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- </a:t>
            </a:r>
            <a:r>
              <a:rPr lang="ko-KR" altLang="en-US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인간의 사고는 항상 주어진 지식의 한계를 극복하려고 한다</a:t>
            </a:r>
            <a:r>
              <a:rPr lang="en-US" altLang="ko-KR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.</a:t>
            </a:r>
            <a:r>
              <a:rPr lang="ko-KR" altLang="en-US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 </a:t>
            </a:r>
            <a:endParaRPr lang="en-US" altLang="ko-KR" sz="4400" dirty="0" smtClean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  <a:p>
            <a:pPr marL="0" indent="0" algn="just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en-US" altLang="ko-KR" sz="4400" dirty="0" smtClean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  <a:p>
            <a:pPr marL="0" indent="0" algn="just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- </a:t>
            </a:r>
            <a:r>
              <a:rPr lang="ko-KR" altLang="en-US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인간 이성은 단편적 지식에 만족하지 않고 이를 설명하는 전체적 모습</a:t>
            </a:r>
            <a:r>
              <a:rPr lang="en-US" altLang="ko-KR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, </a:t>
            </a:r>
            <a:r>
              <a:rPr lang="ko-KR" altLang="en-US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즉 완전한 지식을 추구하고자 한다</a:t>
            </a:r>
            <a:r>
              <a:rPr lang="en-US" altLang="ko-KR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 bwMode="black">
          <a:xfrm>
            <a:off x="539750" y="1052513"/>
            <a:ext cx="7993063" cy="4321175"/>
          </a:xfrm>
        </p:spPr>
        <p:txBody>
          <a:bodyPr/>
          <a:lstStyle/>
          <a:p>
            <a:pPr marL="0" indent="0" algn="just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- </a:t>
            </a:r>
            <a:r>
              <a:rPr lang="ko-KR" altLang="en-US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고대 그리스의 진리개념</a:t>
            </a:r>
            <a:r>
              <a:rPr lang="de-DE" altLang="ko-KR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: 	aletheia</a:t>
            </a:r>
          </a:p>
          <a:p>
            <a:pPr marL="0" indent="0" algn="just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de-DE" altLang="ko-KR" sz="4400" dirty="0" smtClean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  <a:p>
            <a:pPr marL="0" indent="0" algn="just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	</a:t>
            </a:r>
            <a:r>
              <a:rPr lang="en-US" altLang="ko-KR" sz="4400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  <a:sym typeface="Wingdings" panose="05000000000000000000" pitchFamily="2" charset="2"/>
              </a:rPr>
              <a:t> </a:t>
            </a:r>
            <a:r>
              <a:rPr lang="ko-KR" altLang="en-US" sz="4400" dirty="0" smtClean="0">
                <a:solidFill>
                  <a:schemeClr val="accent6">
                    <a:lumMod val="50000"/>
                  </a:schemeClr>
                </a:solidFill>
                <a:ea typeface="굴림" charset="-127"/>
              </a:rPr>
              <a:t>보이는 것에 만족하지 않고 이면에 숨겨진 </a:t>
            </a:r>
            <a:r>
              <a:rPr lang="ko-KR" altLang="en-US" sz="4400" dirty="0">
                <a:solidFill>
                  <a:schemeClr val="accent6">
                    <a:lumMod val="50000"/>
                  </a:schemeClr>
                </a:solidFill>
                <a:ea typeface="굴림" charset="-127"/>
              </a:rPr>
              <a:t>보이지 않는 </a:t>
            </a:r>
            <a:r>
              <a:rPr lang="ko-KR" altLang="en-US" sz="4400" dirty="0" smtClean="0">
                <a:solidFill>
                  <a:schemeClr val="accent6">
                    <a:lumMod val="50000"/>
                  </a:schemeClr>
                </a:solidFill>
                <a:ea typeface="굴림" charset="-127"/>
              </a:rPr>
              <a:t>참된 모습을 추구한다</a:t>
            </a:r>
            <a:r>
              <a:rPr lang="en-US" altLang="ko-KR" sz="4400" dirty="0" smtClean="0">
                <a:solidFill>
                  <a:schemeClr val="accent6">
                    <a:lumMod val="50000"/>
                  </a:schemeClr>
                </a:solidFill>
                <a:ea typeface="굴림" charset="-127"/>
              </a:rPr>
              <a:t>.</a:t>
            </a:r>
            <a:endParaRPr lang="en-US" altLang="ko-KR" sz="4400" dirty="0">
              <a:solidFill>
                <a:schemeClr val="accent6">
                  <a:lumMod val="50000"/>
                </a:schemeClr>
              </a:solidFill>
              <a:ea typeface="굴림" charset="-127"/>
            </a:endParaRPr>
          </a:p>
          <a:p>
            <a:pPr algn="just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ko-KR" dirty="0" smtClean="0">
              <a:solidFill>
                <a:srgbClr val="6E815B"/>
              </a:solidFill>
              <a:ea typeface="굴림" charset="-127"/>
            </a:endParaRPr>
          </a:p>
          <a:p>
            <a:pPr algn="just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ko-KR" dirty="0" smtClean="0">
              <a:solidFill>
                <a:srgbClr val="6E815B"/>
              </a:solidFill>
              <a:ea typeface="굴림" charset="-127"/>
            </a:endParaRPr>
          </a:p>
          <a:p>
            <a:pPr algn="just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de-DE" altLang="ko-KR" dirty="0" smtClean="0">
              <a:solidFill>
                <a:srgbClr val="6E815B"/>
              </a:solidFill>
              <a:ea typeface="굴림" charset="-127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ko-KR" dirty="0" smtClean="0">
              <a:solidFill>
                <a:schemeClr val="tx2"/>
              </a:solidFill>
              <a:ea typeface="굴림" charset="-127"/>
            </a:endParaRPr>
          </a:p>
          <a:p>
            <a:pPr lvl="1" eaLnBrk="1" hangingPunct="1">
              <a:lnSpc>
                <a:spcPct val="80000"/>
              </a:lnSpc>
              <a:defRPr/>
            </a:pPr>
            <a:endParaRPr lang="en-US" altLang="ko-KR" dirty="0" smtClean="0">
              <a:solidFill>
                <a:schemeClr val="tx2"/>
              </a:solidFill>
              <a:ea typeface="굴림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 noChangeArrowheads="1"/>
          </p:cNvSpPr>
          <p:nvPr>
            <p:ph type="body" idx="1"/>
          </p:nvPr>
        </p:nvSpPr>
        <p:spPr bwMode="black">
          <a:xfrm>
            <a:off x="395288" y="549275"/>
            <a:ext cx="8424862" cy="5759450"/>
          </a:xfrm>
        </p:spPr>
        <p:txBody>
          <a:bodyPr/>
          <a:lstStyle/>
          <a:p>
            <a:pPr marL="0" lvl="1" indent="0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42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- </a:t>
            </a:r>
            <a:r>
              <a:rPr lang="ko-KR" altLang="en-US" sz="42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인간은 근원적 </a:t>
            </a:r>
            <a:r>
              <a:rPr lang="ko-KR" altLang="en-US" sz="4200" b="1" dirty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이치와</a:t>
            </a:r>
            <a:r>
              <a:rPr lang="en-US" altLang="ko-KR" sz="4200" b="1" dirty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 </a:t>
            </a:r>
            <a:r>
              <a:rPr lang="ko-KR" altLang="en-US" sz="4200" b="1" dirty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보편적 질서원리를 </a:t>
            </a:r>
            <a:r>
              <a:rPr lang="ko-KR" altLang="en-US" sz="42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알고자 하는 본성을 갖고 있기에 주어진 것</a:t>
            </a:r>
            <a:r>
              <a:rPr lang="en-US" altLang="ko-KR" sz="42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/</a:t>
            </a:r>
            <a:r>
              <a:rPr lang="ko-KR" altLang="en-US" sz="42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당연한 일에 만족하지 않고 끊임없이 의문을 가지며 이를 넘어서서 </a:t>
            </a:r>
            <a:r>
              <a:rPr lang="ko-KR" altLang="en-US" sz="4200" b="1" dirty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진리</a:t>
            </a:r>
            <a:r>
              <a:rPr lang="en-US" altLang="ko-KR" sz="4200" b="1" dirty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, </a:t>
            </a:r>
            <a:r>
              <a:rPr lang="ko-KR" altLang="en-US" sz="4200" b="1" dirty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로고스</a:t>
            </a:r>
            <a:r>
              <a:rPr lang="en-US" altLang="ko-KR" sz="4200" b="1" dirty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, </a:t>
            </a:r>
            <a:r>
              <a:rPr lang="ko-KR" altLang="en-US" sz="4200" b="1" dirty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지혜 등을 </a:t>
            </a:r>
            <a:r>
              <a:rPr lang="ko-KR" altLang="en-US" sz="42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찾고자 한다</a:t>
            </a:r>
            <a:r>
              <a:rPr lang="en-US" altLang="ko-KR" sz="4200" b="1" dirty="0" smtClean="0">
                <a:solidFill>
                  <a:schemeClr val="accent2">
                    <a:lumMod val="50000"/>
                  </a:schemeClr>
                </a:solidFill>
                <a:ea typeface="굴림" charset="-127"/>
              </a:rPr>
              <a:t>.</a:t>
            </a:r>
            <a:endParaRPr lang="ko-KR" altLang="en-US" sz="4200" b="1" dirty="0" smtClean="0">
              <a:solidFill>
                <a:schemeClr val="accent2">
                  <a:lumMod val="50000"/>
                </a:schemeClr>
              </a:solidFill>
              <a:ea typeface="굴림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22TGp_think_light_s">
  <a:themeElements>
    <a:clrScheme name="222TGp_think_light_s 2">
      <a:dk1>
        <a:srgbClr val="003366"/>
      </a:dk1>
      <a:lt1>
        <a:srgbClr val="FFFFFF"/>
      </a:lt1>
      <a:dk2>
        <a:srgbClr val="2E6272"/>
      </a:dk2>
      <a:lt2>
        <a:srgbClr val="B2B2B2"/>
      </a:lt2>
      <a:accent1>
        <a:srgbClr val="3984C9"/>
      </a:accent1>
      <a:accent2>
        <a:srgbClr val="77AE26"/>
      </a:accent2>
      <a:accent3>
        <a:srgbClr val="FFFFFF"/>
      </a:accent3>
      <a:accent4>
        <a:srgbClr val="002A56"/>
      </a:accent4>
      <a:accent5>
        <a:srgbClr val="AEC2E1"/>
      </a:accent5>
      <a:accent6>
        <a:srgbClr val="6B9D21"/>
      </a:accent6>
      <a:hlink>
        <a:srgbClr val="6E815B"/>
      </a:hlink>
      <a:folHlink>
        <a:srgbClr val="90A8B0"/>
      </a:folHlink>
    </a:clrScheme>
    <a:fontScheme name="222TGp_think_light_s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222TGp_think_light_s 1">
        <a:dk1>
          <a:srgbClr val="003366"/>
        </a:dk1>
        <a:lt1>
          <a:srgbClr val="FFFFFF"/>
        </a:lt1>
        <a:dk2>
          <a:srgbClr val="3C8196"/>
        </a:dk2>
        <a:lt2>
          <a:srgbClr val="B2B2B2"/>
        </a:lt2>
        <a:accent1>
          <a:srgbClr val="2C6AA2"/>
        </a:accent1>
        <a:accent2>
          <a:srgbClr val="77AE26"/>
        </a:accent2>
        <a:accent3>
          <a:srgbClr val="FFFFFF"/>
        </a:accent3>
        <a:accent4>
          <a:srgbClr val="002A56"/>
        </a:accent4>
        <a:accent5>
          <a:srgbClr val="ACB9CE"/>
        </a:accent5>
        <a:accent6>
          <a:srgbClr val="6B9D21"/>
        </a:accent6>
        <a:hlink>
          <a:srgbClr val="6E815B"/>
        </a:hlink>
        <a:folHlink>
          <a:srgbClr val="90A8B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22TGp_think_light_s 2">
        <a:dk1>
          <a:srgbClr val="003366"/>
        </a:dk1>
        <a:lt1>
          <a:srgbClr val="FFFFFF"/>
        </a:lt1>
        <a:dk2>
          <a:srgbClr val="2E6272"/>
        </a:dk2>
        <a:lt2>
          <a:srgbClr val="B2B2B2"/>
        </a:lt2>
        <a:accent1>
          <a:srgbClr val="3984C9"/>
        </a:accent1>
        <a:accent2>
          <a:srgbClr val="77AE26"/>
        </a:accent2>
        <a:accent3>
          <a:srgbClr val="FFFFFF"/>
        </a:accent3>
        <a:accent4>
          <a:srgbClr val="002A56"/>
        </a:accent4>
        <a:accent5>
          <a:srgbClr val="AEC2E1"/>
        </a:accent5>
        <a:accent6>
          <a:srgbClr val="6B9D21"/>
        </a:accent6>
        <a:hlink>
          <a:srgbClr val="6E815B"/>
        </a:hlink>
        <a:folHlink>
          <a:srgbClr val="90A8B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22TGp_think_light_s 3">
        <a:dk1>
          <a:srgbClr val="30311D"/>
        </a:dk1>
        <a:lt1>
          <a:srgbClr val="FFFFFF"/>
        </a:lt1>
        <a:dk2>
          <a:srgbClr val="4A5B1F"/>
        </a:dk2>
        <a:lt2>
          <a:srgbClr val="B2B2B2"/>
        </a:lt2>
        <a:accent1>
          <a:srgbClr val="907242"/>
        </a:accent1>
        <a:accent2>
          <a:srgbClr val="93B75F"/>
        </a:accent2>
        <a:accent3>
          <a:srgbClr val="FFFFFF"/>
        </a:accent3>
        <a:accent4>
          <a:srgbClr val="272817"/>
        </a:accent4>
        <a:accent5>
          <a:srgbClr val="C6BCB0"/>
        </a:accent5>
        <a:accent6>
          <a:srgbClr val="85A655"/>
        </a:accent6>
        <a:hlink>
          <a:srgbClr val="557B97"/>
        </a:hlink>
        <a:folHlink>
          <a:srgbClr val="A1A18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222TGp_think_light_s</Template>
  <TotalTime>2904</TotalTime>
  <Words>900</Words>
  <Application>Microsoft Office PowerPoint</Application>
  <PresentationFormat>화면 슬라이드 쇼(4:3)</PresentationFormat>
  <Paragraphs>165</Paragraphs>
  <Slides>52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52</vt:i4>
      </vt:variant>
    </vt:vector>
  </HeadingPairs>
  <TitlesOfParts>
    <vt:vector size="58" baseType="lpstr">
      <vt:lpstr>Arial</vt:lpstr>
      <vt:lpstr>Verdana</vt:lpstr>
      <vt:lpstr>Wingdings</vt:lpstr>
      <vt:lpstr>맑은 고딕</vt:lpstr>
      <vt:lpstr>굴림</vt:lpstr>
      <vt:lpstr>222TGp_think_light_s</vt:lpstr>
      <vt:lpstr>철학과 인간</vt:lpstr>
      <vt:lpstr>PowerPoint 프레젠테이션</vt:lpstr>
      <vt:lpstr>&lt; 철학의 개념: 사전적 정의 1 &gt;   - 인간과 세계에 대한 근본 원리와 삶의 본질 따위를 연구하는 학문   - 세계와 인간의 삶에 대한 근본 원리 즉 인간의 본질, 세계관 등을 탐구하는 학문</vt:lpstr>
      <vt:lpstr>&lt; 철학의 개념: 사전적 정의 2 &gt;   - 자연과 인간 사회 문화 제 영역의 최고 원리와 통일 원리를 반성적으로 탐구하는 지적 활동  또는 그 결실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&lt; 철학의 개념: 사전적 정의 1 &gt;   - 인간과 세계에 대한 근본 원리와 삶의 본질 따위를 연구하는 학문   - 세계와 인간의 삶에 대한 근본 원리 즉 인간의 본질, 세계관 등을 탐구하는 학문</vt:lpstr>
      <vt:lpstr>&lt; 철학의 개념: 사전적 정의 2 &gt;   - 자연과 인간 사회 문화 제 영역의 최고 원리와 통일 원리를 반성적으로 탐구하는 지적 활동  또는 그 결실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왜 우리는 철학을 하는가?   철학은 우리에게 필요한가? 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Hewlett-Packard Company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철학개론</dc:title>
  <dc:creator>Son</dc:creator>
  <cp:lastModifiedBy>Windows 사용자</cp:lastModifiedBy>
  <cp:revision>174</cp:revision>
  <cp:lastPrinted>2020-08-22T13:56:34Z</cp:lastPrinted>
  <dcterms:created xsi:type="dcterms:W3CDTF">2011-07-30T13:04:11Z</dcterms:created>
  <dcterms:modified xsi:type="dcterms:W3CDTF">2020-12-21T14:02:43Z</dcterms:modified>
</cp:coreProperties>
</file>