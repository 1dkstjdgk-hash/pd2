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0" r:id="rId6"/>
    <p:sldId id="263" r:id="rId7"/>
    <p:sldId id="261" r:id="rId8"/>
    <p:sldId id="264" r:id="rId9"/>
    <p:sldId id="25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2E8DB6-8D82-4061-9E74-BAD2EE3BF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825A90-C3F8-4652-B4F5-A8C42B694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D7FC58-0D80-43B1-8B78-227ADD6D4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265A-03E5-43B4-AF6E-6470E586397B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B03C9-4361-4255-943B-344099F8A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92D57C-5942-4A9D-8D97-D8E33FCC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C1C8-2020-4151-921C-4F80D67BF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261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096FA-FAF6-418B-B52B-FF2905F7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A156A1-F564-4BAC-86FC-4FF0D88C9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B7B05B-32AB-40C3-BE28-01F742844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265A-03E5-43B4-AF6E-6470E586397B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5BE0A1-E067-4783-9541-4945DB5C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63B80D-7489-454D-8058-9FD1D1E4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C1C8-2020-4151-921C-4F80D67BF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760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4F434-D54B-445D-BFE3-9ACF3CB8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0563A0-8395-4948-9B8E-03219978E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04871B-6D1B-4D7C-9B8F-55BC746D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265A-03E5-43B4-AF6E-6470E586397B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A078A9-433F-4F72-A774-D08FBEF52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DE9178-B6B7-475C-8752-D6C0D5882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C1C8-2020-4151-921C-4F80D67BF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28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3247C-F3AC-4057-9211-D8259A3D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224FB1-FB11-4F26-ACDE-1B9C6CDD7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0BB5C2-F243-4C46-838C-9BE08B607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097639-2C29-46EB-B591-5214F8C31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265A-03E5-43B4-AF6E-6470E586397B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683E67-40E9-4A19-9EFD-4250562C8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A19C5E-9AF9-435C-AC78-623DA60D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C1C8-2020-4151-921C-4F80D67BF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36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44B39-B43F-4341-9EC4-2FAECCE95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C92A8F-7088-4998-AEF2-F2B850290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57B64C-27EA-43A6-AD8B-04FC658FD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EDADB1-1C2C-42D9-AE5B-A7037105E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38BA18-CB06-41A5-977A-2C77E633D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06408B-F494-483B-AA34-08BB92E11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265A-03E5-43B4-AF6E-6470E586397B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528DA9-95B1-4D89-B1E6-420B5B6B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A2E4A6-8487-4E86-A2DB-28FF97C0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C1C8-2020-4151-921C-4F80D67BF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34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156311-4D70-4968-9F2B-DE92C0BA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8269450-4B8D-4F54-B77D-C4A9791A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265A-03E5-43B4-AF6E-6470E586397B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1C9DAA-9A50-4461-8C01-7C0D3A414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66D259-77AD-4D51-A76D-37529D04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C1C8-2020-4151-921C-4F80D67BF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384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94BA57-849A-447D-AA94-F42C4AC4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265A-03E5-43B4-AF6E-6470E586397B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16F131-37F4-45A5-93F8-3B4C8AAE3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46D78F-2073-4BCD-9224-02AA13CC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C1C8-2020-4151-921C-4F80D67BF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630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833EE-4515-4CD6-BDCC-59B48B13E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7DBEAB-EF0D-44FC-8451-99D298EE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6E37D0-AF16-4AFB-A18A-88F2B26DA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FE8F7D-E77D-44B6-83D9-ED7B6037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265A-03E5-43B4-AF6E-6470E586397B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7A63CD-5B40-49E9-8263-974206EFB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C60D64-9025-4BFE-A919-CD38AF3B3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C1C8-2020-4151-921C-4F80D67BF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253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23F8B6-956C-4807-B44E-1476493E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6D83AA-9F4B-4A7A-848E-2DF68F6F4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C8A88C-0B6A-40BC-A131-B9A39FEE0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D19FCA-F9D2-41A0-BA14-D78C3E62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265A-03E5-43B4-AF6E-6470E586397B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C4BE99-97C3-423E-BBA0-1E7E269F7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A767F8-165F-45B2-822A-DBD183E2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C1C8-2020-4151-921C-4F80D67BF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29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4EC8F-8FE3-4162-B904-06F3B4E18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07E80B-9007-42A7-82B1-F33E7C7E1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A1A5A4-A026-49DF-808F-5EEEF8B0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265A-03E5-43B4-AF6E-6470E586397B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59C2B4-A87D-4909-BFB7-DAB74F83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518412-B196-4660-A234-543C7736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C1C8-2020-4151-921C-4F80D67BF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47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302AD0-DCC5-4CD7-A4E6-926A089A7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6ED93F-7410-4E47-A527-DA8CA0D78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67969-2024-424F-B941-FA47D8AF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265A-03E5-43B4-AF6E-6470E586397B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F0BAE4-785D-498F-9A35-07A23DD4B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4F3A33-4919-4F7D-A2BC-B82275A85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C1C8-2020-4151-921C-4F80D67BF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03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6660D2-758D-4CB4-813C-119C6529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DBA6F-F64D-439D-9340-37893BC55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DDFE42-E597-4300-8C73-B9A6AA34E8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D265A-03E5-43B4-AF6E-6470E586397B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6AB738-7B6A-43A2-81C6-46375EFDB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914993-871C-49F6-B6D9-5AB5B1A71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4C1C8-2020-4151-921C-4F80D67BF1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35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559FD-B9FC-4FA9-AF42-78BE782A3B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9FB766-43B6-4908-B736-4A966C5547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60222492 </a:t>
            </a:r>
            <a:r>
              <a:rPr lang="ko-KR" altLang="en-US" dirty="0" err="1"/>
              <a:t>안성하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6843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2E1D1-27E5-40BF-A8AA-F3A75FD97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웨어러블 기술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F08F38-756C-44CC-B924-6A3712C1F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웨어러블 기술은 정보통신 기기를 사용자의 몸에 지니고 다니는 기기로 만드는 기술을 말한다</a:t>
            </a:r>
            <a:r>
              <a:rPr lang="en-US" altLang="ko-KR" sz="2000" dirty="0"/>
              <a:t>. </a:t>
            </a:r>
            <a:r>
              <a:rPr lang="ko-KR" altLang="en-US" sz="2000" dirty="0"/>
              <a:t>시초는 군사용으로 나왔지만 기술이 발전하고 빅데이터</a:t>
            </a:r>
            <a:r>
              <a:rPr lang="en-US" altLang="ko-KR" sz="2000" dirty="0"/>
              <a:t>, </a:t>
            </a:r>
            <a:r>
              <a:rPr lang="ko-KR" altLang="en-US" sz="2000" dirty="0"/>
              <a:t>인공지능 기술이 결합되어 개인의 일상생활에서 경험하는 정보를 수집하고 분석하는 스마트 헬스케어 산업이 확장되면서 헬스케어의 중심기술이 되었다고 볼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이는 개별 환자로부터 다양한 데이터를 수집하여 통합적 진단</a:t>
            </a:r>
            <a:r>
              <a:rPr lang="en-US" altLang="ko-KR" sz="2000" dirty="0"/>
              <a:t>, </a:t>
            </a:r>
            <a:r>
              <a:rPr lang="ko-KR" altLang="en-US" sz="2000" dirty="0"/>
              <a:t>치료와 예방이 가능한 총괄적 헬스케어 서비스라는 새로운 부가가치의 창출이라 말할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이 산업에서 웨어러블 기기는 건강 증진과 개선을 위해 신체에 착용하여 생체신호 측정과 모니터링을 하는 제품이다</a:t>
            </a:r>
            <a:r>
              <a:rPr lang="en-US" altLang="ko-KR" sz="2000" dirty="0"/>
              <a:t>. </a:t>
            </a:r>
            <a:r>
              <a:rPr lang="ko-KR" altLang="en-US" sz="2000" dirty="0"/>
              <a:t>웨어러블 기술은 헬스케어를 제외하고도 많은 분야에 쓰이는데</a:t>
            </a:r>
            <a:r>
              <a:rPr lang="en-US" altLang="ko-KR" sz="2000" dirty="0"/>
              <a:t>, </a:t>
            </a:r>
            <a:r>
              <a:rPr lang="ko-KR" altLang="en-US" sz="2000" dirty="0"/>
              <a:t>인간의 운동능력 및 근력을 보조하기 위해 이 기술을 도입한 로봇을 만들거나 항공기 제조 공정의 효율화를 위해 웨어러블 컴퓨터를 사용하고 의류업계에 쓰이기 시작하면서 옷을 입는 것만으로도 음악을 듣고 지도의 알림을 받는 등 일상생활이 더 편리해지도록 돕는 것들이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이 기술은 헬스케어를 중심으로 인공지능</a:t>
            </a:r>
            <a:r>
              <a:rPr lang="en-US" altLang="ko-KR" sz="2000" dirty="0"/>
              <a:t>,IT</a:t>
            </a:r>
            <a:r>
              <a:rPr lang="ko-KR" altLang="en-US" sz="2000" dirty="0"/>
              <a:t>기술이 더 발전함에 따라서 우리의 일상에 스며들 것이다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4935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F88B8619-A219-4511-9530-EA7B4BF929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40528"/>
            <a:ext cx="6533964" cy="36753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3071829-4A16-4AD3-8AC9-7684CCA4B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626" y="1340529"/>
            <a:ext cx="6707374" cy="367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47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690F7-634B-4E39-971A-B8B4B2AD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인공지능 분야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28868C-BF9D-4454-9A6E-A72E5E686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미국에서 인공지능 분야의 직업을 가진 사람들은 평균</a:t>
            </a:r>
            <a:r>
              <a:rPr lang="en-US" altLang="ko-KR" dirty="0"/>
              <a:t> 125000</a:t>
            </a:r>
            <a:r>
              <a:rPr lang="ko-KR" altLang="en-US" dirty="0"/>
              <a:t>달러</a:t>
            </a:r>
            <a:r>
              <a:rPr lang="en-US" altLang="ko-KR" dirty="0"/>
              <a:t>,</a:t>
            </a:r>
            <a:r>
              <a:rPr lang="ko-KR" altLang="en-US" dirty="0"/>
              <a:t> 한화</a:t>
            </a:r>
            <a:r>
              <a:rPr lang="en-US" altLang="ko-KR" dirty="0"/>
              <a:t>1</a:t>
            </a:r>
            <a:r>
              <a:rPr lang="ko-KR" altLang="en-US" dirty="0"/>
              <a:t>억</a:t>
            </a:r>
            <a:r>
              <a:rPr lang="en-US" altLang="ko-KR" dirty="0"/>
              <a:t>5000</a:t>
            </a:r>
            <a:r>
              <a:rPr lang="ko-KR" altLang="en-US" dirty="0"/>
              <a:t>만원 정도의 연봉을 받는다</a:t>
            </a:r>
            <a:r>
              <a:rPr lang="en-US" altLang="ko-KR" dirty="0"/>
              <a:t>. </a:t>
            </a:r>
            <a:r>
              <a:rPr lang="ko-KR" altLang="en-US" dirty="0"/>
              <a:t>적게는 </a:t>
            </a:r>
            <a:r>
              <a:rPr lang="en-US" altLang="ko-KR" dirty="0"/>
              <a:t>9</a:t>
            </a:r>
            <a:r>
              <a:rPr lang="ko-KR" altLang="en-US" dirty="0"/>
              <a:t>만</a:t>
            </a:r>
            <a:r>
              <a:rPr lang="en-US" altLang="ko-KR" dirty="0"/>
              <a:t>3</a:t>
            </a:r>
            <a:r>
              <a:rPr lang="ko-KR" altLang="en-US" dirty="0"/>
              <a:t>천달러</a:t>
            </a:r>
            <a:r>
              <a:rPr lang="en-US" altLang="ko-KR" dirty="0"/>
              <a:t>, </a:t>
            </a:r>
            <a:r>
              <a:rPr lang="ko-KR" altLang="en-US" dirty="0"/>
              <a:t>많게는 </a:t>
            </a:r>
            <a:r>
              <a:rPr lang="en-US" altLang="ko-KR" dirty="0"/>
              <a:t>20</a:t>
            </a:r>
            <a:r>
              <a:rPr lang="ko-KR" altLang="en-US" dirty="0"/>
              <a:t>만 달러를 받는 것을 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3899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4AE3240-7DA4-42B8-AAE9-8AE8845A3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552" y="0"/>
            <a:ext cx="6494508" cy="365316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D1A2E7C-1F43-461F-BBDD-74A35C33F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15557"/>
            <a:ext cx="5942120" cy="3342443"/>
          </a:xfrm>
          <a:prstGeom prst="rect">
            <a:avLst/>
          </a:prstGeom>
        </p:spPr>
      </p:pic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AB0D4DA-BE11-4D98-9B96-A2672D898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95999" y="3653161"/>
            <a:ext cx="5942122" cy="33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7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72472-A429-4D69-947D-94DEAFD45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사이언스 분야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832CF9-05CD-4C26-82AE-894DE767C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사이언스 분야의 직업을 가진 사람들은 평균연봉이 </a:t>
            </a:r>
            <a:r>
              <a:rPr lang="en-US" altLang="ko-KR" dirty="0"/>
              <a:t>9</a:t>
            </a:r>
            <a:r>
              <a:rPr lang="ko-KR" altLang="en-US" dirty="0"/>
              <a:t>만</a:t>
            </a:r>
            <a:r>
              <a:rPr lang="en-US" altLang="ko-KR" dirty="0"/>
              <a:t>7</a:t>
            </a:r>
            <a:r>
              <a:rPr lang="ko-KR" altLang="en-US" dirty="0"/>
              <a:t>천 달러라고 볼 수 있다</a:t>
            </a:r>
            <a:r>
              <a:rPr lang="en-US" altLang="ko-KR" dirty="0"/>
              <a:t>. </a:t>
            </a:r>
            <a:r>
              <a:rPr lang="ko-KR" altLang="en-US" dirty="0" err="1"/>
              <a:t>남녀성비가</a:t>
            </a:r>
            <a:r>
              <a:rPr lang="ko-KR" altLang="en-US" dirty="0"/>
              <a:t> </a:t>
            </a:r>
            <a:r>
              <a:rPr lang="en-US" altLang="ko-KR" dirty="0"/>
              <a:t>7:3</a:t>
            </a:r>
            <a:r>
              <a:rPr lang="ko-KR" altLang="en-US" dirty="0"/>
              <a:t>정도 되고 주로 </a:t>
            </a:r>
            <a:r>
              <a:rPr lang="ko-KR" altLang="en-US" dirty="0" err="1"/>
              <a:t>파이썬이나</a:t>
            </a:r>
            <a:r>
              <a:rPr lang="ko-KR" altLang="en-US" dirty="0"/>
              <a:t> 기계학습으로 데이터를 연구한다</a:t>
            </a:r>
            <a:r>
              <a:rPr lang="en-US" altLang="ko-KR" dirty="0"/>
              <a:t>. </a:t>
            </a:r>
            <a:r>
              <a:rPr lang="ko-KR" altLang="en-US" dirty="0"/>
              <a:t>직업의 만족도는 별</a:t>
            </a:r>
            <a:r>
              <a:rPr lang="en-US" altLang="ko-KR" dirty="0"/>
              <a:t>5</a:t>
            </a:r>
            <a:r>
              <a:rPr lang="ko-KR" altLang="en-US" dirty="0"/>
              <a:t>개 만점에 </a:t>
            </a:r>
            <a:r>
              <a:rPr lang="en-US" altLang="ko-KR" dirty="0"/>
              <a:t>4</a:t>
            </a:r>
            <a:r>
              <a:rPr lang="ko-KR" altLang="en-US" dirty="0"/>
              <a:t>개로 좋은 편이다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9227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2C1E851-5ABA-48D4-BA33-6EDB1F257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665024"/>
            <a:ext cx="6096000" cy="3429000"/>
          </a:xfrm>
          <a:prstGeom prst="rect">
            <a:avLst/>
          </a:prstGeom>
        </p:spPr>
      </p:pic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A8FCB54-31C2-4970-8A47-876BFEE58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1685506"/>
            <a:ext cx="6059588" cy="340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73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BB8B2-DD77-4686-8B3E-41A641F7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빅 데이터 분야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314C49-43E3-4DAD-AF12-838376CFF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빅 데이터 분야의 직업을 가진 사람들의 평균 연봉은 </a:t>
            </a:r>
            <a:r>
              <a:rPr lang="en-US" altLang="ko-KR" dirty="0"/>
              <a:t>11</a:t>
            </a:r>
            <a:r>
              <a:rPr lang="ko-KR" altLang="en-US" dirty="0"/>
              <a:t>만</a:t>
            </a:r>
            <a:r>
              <a:rPr lang="en-US" altLang="ko-KR" dirty="0"/>
              <a:t>6</a:t>
            </a:r>
            <a:r>
              <a:rPr lang="ko-KR" altLang="en-US" dirty="0"/>
              <a:t>천 달러로 볼 수 있다</a:t>
            </a:r>
            <a:r>
              <a:rPr lang="en-US" altLang="ko-KR" dirty="0"/>
              <a:t>.</a:t>
            </a:r>
            <a:r>
              <a:rPr lang="ko-KR" altLang="en-US" dirty="0"/>
              <a:t> 인공지능 분야와 비슷한 직종을 채용한다</a:t>
            </a:r>
            <a:r>
              <a:rPr lang="en-US" altLang="ko-KR" dirty="0"/>
              <a:t>. </a:t>
            </a:r>
            <a:r>
              <a:rPr lang="ko-KR" altLang="en-US" dirty="0"/>
              <a:t>연봉은 적게는 </a:t>
            </a:r>
            <a:r>
              <a:rPr lang="en-US" altLang="ko-KR" dirty="0"/>
              <a:t>6</a:t>
            </a:r>
            <a:r>
              <a:rPr lang="ko-KR" altLang="en-US" dirty="0"/>
              <a:t>만</a:t>
            </a:r>
            <a:r>
              <a:rPr lang="en-US" altLang="ko-KR" dirty="0"/>
              <a:t>7</a:t>
            </a:r>
            <a:r>
              <a:rPr lang="ko-KR" altLang="en-US" dirty="0"/>
              <a:t>천</a:t>
            </a:r>
            <a:r>
              <a:rPr lang="en-US" altLang="ko-KR" dirty="0"/>
              <a:t>, </a:t>
            </a:r>
            <a:r>
              <a:rPr lang="ko-KR" altLang="en-US" dirty="0"/>
              <a:t>많게는 </a:t>
            </a:r>
            <a:r>
              <a:rPr lang="en-US" altLang="ko-KR" dirty="0"/>
              <a:t>13</a:t>
            </a:r>
            <a:r>
              <a:rPr lang="ko-KR" altLang="en-US" dirty="0"/>
              <a:t>만</a:t>
            </a:r>
            <a:r>
              <a:rPr lang="en-US" altLang="ko-KR" dirty="0"/>
              <a:t>7</a:t>
            </a:r>
            <a:r>
              <a:rPr lang="ko-KR" altLang="en-US" dirty="0"/>
              <a:t>천달러를 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638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90E72-F48B-4281-ADC3-AF392113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“Will robots really steal our jobs?”</a:t>
            </a:r>
            <a:r>
              <a:rPr kumimoji="1" lang="ko-KR" altLang="en-US" sz="4000" dirty="0">
                <a:latin typeface="NanumGothic" panose="020D0604000000000000" pitchFamily="34" charset="-127"/>
                <a:ea typeface="NanumGothic" panose="020D0604000000000000" pitchFamily="34" charset="-127"/>
              </a:rPr>
              <a:t>를 읽은 후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96DF95-A1DE-4CDE-9EF7-68FED817E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77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앞으로 자동화될 잠재력이 있는 직업에 남성이 여성보다 더 노출 되어있다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시간이 지나면서 운송분야에서의 자동화사용이 증가하고있다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적게 교육받은 사람은 더욱이 자동화에 노출될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낮은 수준의 교육을 받은 사람들의 일자리가 </a:t>
            </a:r>
            <a:r>
              <a:rPr lang="en-US" altLang="ko-KR" dirty="0"/>
              <a:t>2030</a:t>
            </a:r>
            <a:r>
              <a:rPr lang="ko-KR" altLang="en-US" dirty="0"/>
              <a:t>년대부터 자동화될 것이다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2020</a:t>
            </a:r>
            <a:r>
              <a:rPr lang="ko-KR" altLang="en-US" dirty="0"/>
              <a:t>년대 초에 금융서비스업이 자동화된다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2020</a:t>
            </a:r>
            <a:r>
              <a:rPr lang="ko-KR" altLang="en-US" dirty="0"/>
              <a:t>년대 말에 사무기술이나 반조종적 환경에서의 자동화가 일어날 것이다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2030</a:t>
            </a:r>
            <a:r>
              <a:rPr lang="ko-KR" altLang="en-US" dirty="0"/>
              <a:t>년대에 손재주나 육체노동</a:t>
            </a:r>
            <a:r>
              <a:rPr lang="en-US" altLang="ko-KR" dirty="0"/>
              <a:t>, </a:t>
            </a:r>
            <a:r>
              <a:rPr lang="ko-KR" altLang="en-US" dirty="0"/>
              <a:t>운송에서의 자동화가 일어날 것이다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7772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336</Words>
  <Application>Microsoft Office PowerPoint</Application>
  <PresentationFormat>와이드스크린</PresentationFormat>
  <Paragraphs>18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NanumGothic</vt:lpstr>
      <vt:lpstr>맑은 고딕</vt:lpstr>
      <vt:lpstr>Arial</vt:lpstr>
      <vt:lpstr>Office 테마</vt:lpstr>
      <vt:lpstr>과제2</vt:lpstr>
      <vt:lpstr>웨어러블 기술</vt:lpstr>
      <vt:lpstr>PowerPoint 프레젠테이션</vt:lpstr>
      <vt:lpstr>인공지능 분야</vt:lpstr>
      <vt:lpstr>PowerPoint 프레젠테이션</vt:lpstr>
      <vt:lpstr>데이터 사이언스 분야</vt:lpstr>
      <vt:lpstr>PowerPoint 프레젠테이션</vt:lpstr>
      <vt:lpstr>빅 데이터 분야</vt:lpstr>
      <vt:lpstr>“Will robots really steal our jobs?”를 읽은 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과제2</dc:title>
  <dc:creator>tjdgk</dc:creator>
  <cp:lastModifiedBy>tjdgk</cp:lastModifiedBy>
  <cp:revision>12</cp:revision>
  <dcterms:created xsi:type="dcterms:W3CDTF">2022-03-21T06:43:01Z</dcterms:created>
  <dcterms:modified xsi:type="dcterms:W3CDTF">2022-03-21T08:39:49Z</dcterms:modified>
</cp:coreProperties>
</file>